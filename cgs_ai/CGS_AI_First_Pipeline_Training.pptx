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 bookmarkIdSeed="2">
  <p:sldMasterIdLst>
    <p:sldMasterId id="2147483649" r:id="rId1"/>
    <p:sldMasterId id="2147483650" r:id="rId2"/>
  </p:sldMasterIdLst>
  <p:notesMasterIdLst>
    <p:notesMasterId r:id="rId9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6F62E6B-F0BC-4D62-B69F-4A93FCC8B00E}">
  <a:tblStyle styleId="{B6F62E6B-F0BC-4D62-B69F-4A93FCC8B00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71" autoAdjust="0"/>
    <p:restoredTop sz="96247" autoAdjust="0"/>
  </p:normalViewPr>
  <p:slideViewPr>
    <p:cSldViewPr snapToGrid="0">
      <p:cViewPr varScale="1">
        <p:scale>
          <a:sx n="108" d="100"/>
          <a:sy n="108" d="100"/>
        </p:scale>
        <p:origin x="108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ableStyles" Target="tableStyles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9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3199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5305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BigCircle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2A367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mallCircle"/>
          <p:cNvSpPr/>
          <p:nvPr/>
        </p:nvSpPr>
        <p:spPr>
          <a:xfrm>
            <a:off x="7772400" y="457200"/>
            <a:ext cx="822960" cy="822960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CornerCircle"/>
          <p:cNvSpPr/>
          <p:nvPr/>
        </p:nvSpPr>
        <p:spPr>
          <a:xfrm>
            <a:off x="-457200" y="3429000"/>
            <a:ext cx="1828800" cy="1828800"/>
          </a:xfrm>
          <a:prstGeom prst="ellipse">
            <a:avLst/>
          </a:prstGeom>
          <a:solidFill>
            <a:srgbClr val="2A367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itle"/>
          <p:cNvSpPr txBox="1"/>
          <p:nvPr/>
        </p:nvSpPr>
        <p:spPr>
          <a:xfrm>
            <a:off x="640080" y="1188720"/>
            <a:ext cx="6096000" cy="12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3200" b="1" dirty="0">
                <a:solidFill>
                  <a:srgbClr val="FFFFFF"/>
                </a:solidFill>
                <a:latin typeface="Calibri"/>
                <a:cs typeface="Calibri"/>
              </a:rPr>
              <a:t>Build Your First cgs_ai Pipeline</a:t>
            </a:r>
          </a:p>
        </p:txBody>
      </p:sp>
      <p:sp>
        <p:nvSpPr>
          <p:cNvPr id="7" name="Subtitle"/>
          <p:cNvSpPr txBox="1"/>
          <p:nvPr/>
        </p:nvSpPr>
        <p:spPr>
          <a:xfrm>
            <a:off x="640080" y="2560320"/>
            <a:ext cx="6858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dirty="0">
                <a:solidFill>
                  <a:srgbClr val="CADCFC"/>
                </a:solidFill>
                <a:latin typeface="Calibri"/>
                <a:cs typeface="Calibri"/>
              </a:rPr>
              <a:t>Four steps. About ten minutes.</a:t>
            </a:r>
          </a:p>
        </p:txBody>
      </p:sp>
      <p:sp>
        <p:nvSpPr>
          <p:cNvPr id="8" name="Footer"/>
          <p:cNvSpPr txBox="1"/>
          <p:nvPr/>
        </p:nvSpPr>
        <p:spPr>
          <a:xfrm>
            <a:off x="640080" y="3931920"/>
            <a:ext cx="6858000" cy="6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00" dirty="0">
                <a:solidFill>
                  <a:srgbClr val="CADCFC"/>
                </a:solidFill>
                <a:latin typeface="Calibri"/>
                <a:cs typeface="Calibri"/>
              </a:rPr>
              <a:t>claims_report_pipeline_v0_2.py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100" dirty="0">
                <a:solidFill>
                  <a:srgbClr val="CADCFC"/>
                </a:solidFill>
                <a:latin typeface="Calibri"/>
                <a:cs typeface="Calibri"/>
              </a:rPr>
              <a:t>Presented by Manuel Figallo  ·  cgs_ai v1.0beta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Bar"/>
          <p:cNvSpPr/>
          <p:nvPr/>
        </p:nvSpPr>
        <p:spPr>
          <a:xfrm>
            <a:off x="0" y="128016"/>
            <a:ext cx="219456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Eyebrow"/>
          <p:cNvSpPr txBox="1"/>
          <p:nvPr/>
        </p:nvSpPr>
        <p:spPr>
          <a:xfrm>
            <a:off x="502920" y="181051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5A6685"/>
                </a:solidFill>
                <a:latin typeface="Calibri"/>
                <a:cs typeface="Calibri"/>
              </a:rPr>
              <a:t>WHY THIS MATTERS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02920" y="400507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800" b="1" dirty="0">
                <a:solidFill>
                  <a:srgbClr val="232A4D"/>
                </a:solidFill>
                <a:latin typeface="Calibri"/>
                <a:cs typeface="Calibri"/>
              </a:rPr>
              <a:t>cgs_ai Is Our Own Python Package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02920" y="1004011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dirty="0">
                <a:solidFill>
                  <a:srgbClr val="5A6685"/>
                </a:solidFill>
                <a:latin typeface="Calibri"/>
                <a:cs typeface="Calibri"/>
              </a:rPr>
              <a:t>It holds the work we all repeat as functions anyone can call by name.</a:t>
            </a:r>
          </a:p>
        </p:txBody>
      </p:sp>
      <p:sp>
        <p:nvSpPr>
          <p:cNvPr id="7" name="FooterRule"/>
          <p:cNvSpPr/>
          <p:nvPr/>
        </p:nvSpPr>
        <p:spPr>
          <a:xfrm>
            <a:off x="502920" y="4828032"/>
            <a:ext cx="8138160" cy="10973"/>
          </a:xfrm>
          <a:prstGeom prst="rect">
            <a:avLst/>
          </a:prstGeom>
          <a:solidFill>
            <a:srgbClr val="D7DF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Left"/>
          <p:cNvSpPr txBox="1"/>
          <p:nvPr/>
        </p:nvSpPr>
        <p:spPr>
          <a:xfrm>
            <a:off x="502920" y="4855464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cgs_ai · Build Your First Pipeline</a:t>
            </a:r>
          </a:p>
        </p:txBody>
      </p:sp>
      <p:sp>
        <p:nvSpPr>
          <p:cNvPr id="9" name="FooterCenter"/>
          <p:cNvSpPr txBox="1"/>
          <p:nvPr/>
        </p:nvSpPr>
        <p:spPr>
          <a:xfrm>
            <a:off x="4572000" y="4855464"/>
            <a:ext cx="288036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claims_report_pipeline_v0_2.py</a:t>
            </a:r>
          </a:p>
        </p:txBody>
      </p:sp>
      <p:sp>
        <p:nvSpPr>
          <p:cNvPr id="10" name="PageNo"/>
          <p:cNvSpPr txBox="1"/>
          <p:nvPr/>
        </p:nvSpPr>
        <p:spPr>
          <a:xfrm>
            <a:off x="7498080" y="4855464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sz="900" b="1" dirty="0">
                <a:solidFill>
                  <a:srgbClr val="1E2761"/>
                </a:solidFill>
                <a:latin typeface="Calibri"/>
                <a:cs typeface="Calibri"/>
              </a:rPr>
              <a:t>2 / 11</a:t>
            </a:r>
          </a:p>
        </p:txBody>
      </p:sp>
      <p:sp>
        <p:nvSpPr>
          <p:cNvPr id="11" name="Bullets"/>
          <p:cNvSpPr txBox="1"/>
          <p:nvPr/>
        </p:nvSpPr>
        <p:spPr>
          <a:xfrm>
            <a:off x="502920" y="1430000"/>
            <a:ext cx="8138160" cy="27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0000" indent="-180000" algn="l">
              <a:spcBef>
                <a:spcPts val="0"/>
              </a:spcBef>
              <a:buChar char="▪"/>
            </a:pPr>
            <a:r>
              <a:rPr lang="en-US" sz="1250" b="1" dirty="0">
                <a:solidFill>
                  <a:srgbClr val="232A4D"/>
                </a:solidFill>
                <a:latin typeface="Calibri"/>
                <a:cs typeface="Calibri"/>
              </a:rPr>
              <a:t>You write four lines instead of four hundred.  </a:t>
            </a:r>
            <a:r>
              <a:rPr lang="en-US" sz="1250" dirty="0">
                <a:solidFill>
                  <a:srgbClr val="5A6685"/>
                </a:solidFill>
                <a:latin typeface="Calibri"/>
                <a:cs typeface="Calibri"/>
              </a:rPr>
              <a:t>The formatting, the styling and the mail all live inside cgs_ai. You call them; you do not rewrite them.</a:t>
            </a:r>
          </a:p>
          <a:p>
            <a:pPr marL="180000" indent="-180000" algn="l">
              <a:spcBef>
                <a:spcPts val="700"/>
              </a:spcBef>
              <a:buChar char="▪"/>
            </a:pPr>
            <a:r>
              <a:rPr lang="en-US" sz="1250" b="1" dirty="0">
                <a:solidFill>
                  <a:srgbClr val="232A4D"/>
                </a:solidFill>
                <a:latin typeface="Calibri"/>
                <a:cs typeface="Calibri"/>
              </a:rPr>
              <a:t>Every report comes out looking the same.  </a:t>
            </a:r>
            <a:r>
              <a:rPr lang="en-US" sz="1250" dirty="0">
                <a:solidFill>
                  <a:srgbClr val="5A6685"/>
                </a:solidFill>
                <a:latin typeface="Calibri"/>
                <a:cs typeface="Calibri"/>
              </a:rPr>
              <a:t>One implementation means one look, whoever runs it and whenever.</a:t>
            </a:r>
          </a:p>
          <a:p>
            <a:pPr marL="180000" indent="-180000" algn="l">
              <a:spcBef>
                <a:spcPts val="700"/>
              </a:spcBef>
              <a:buChar char="▪"/>
            </a:pPr>
            <a:r>
              <a:rPr lang="en-US" sz="1250" b="1" dirty="0">
                <a:solidFill>
                  <a:srgbClr val="232A4D"/>
                </a:solidFill>
                <a:latin typeface="Calibri"/>
                <a:cs typeface="Calibri"/>
              </a:rPr>
              <a:t>Change a parameter, not the code.  </a:t>
            </a:r>
            <a:r>
              <a:rPr lang="en-US" sz="1250" dirty="0">
                <a:solidFill>
                  <a:srgbClr val="5A6685"/>
                </a:solidFill>
                <a:latin typeface="Calibri"/>
                <a:cs typeface="Calibri"/>
              </a:rPr>
              <a:t>A different extract, sheet name or title is an argument you pass, not a program you edit.</a:t>
            </a:r>
          </a:p>
          <a:p>
            <a:pPr marL="180000" indent="-180000" algn="l">
              <a:spcBef>
                <a:spcPts val="700"/>
              </a:spcBef>
              <a:buChar char="▪"/>
            </a:pPr>
            <a:r>
              <a:rPr lang="en-US" sz="1250" b="1" dirty="0">
                <a:solidFill>
                  <a:srgbClr val="232A4D"/>
                </a:solidFill>
                <a:latin typeface="Calibri"/>
                <a:cs typeface="Calibri"/>
              </a:rPr>
              <a:t>What you run by hand today, a scheduler runs at 2 a.m. tomorrow.  </a:t>
            </a:r>
            <a:r>
              <a:rPr lang="en-US" sz="1250" dirty="0">
                <a:solidFill>
                  <a:srgbClr val="5A6685"/>
                </a:solidFill>
                <a:latin typeface="Calibri"/>
                <a:cs typeface="Calibri"/>
              </a:rPr>
              <a:t>Nothing in these functions prompts for input, so the same call works unattended.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Bar"/>
          <p:cNvSpPr/>
          <p:nvPr/>
        </p:nvSpPr>
        <p:spPr>
          <a:xfrm>
            <a:off x="0" y="128016"/>
            <a:ext cx="219456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Eyebrow"/>
          <p:cNvSpPr txBox="1"/>
          <p:nvPr/>
        </p:nvSpPr>
        <p:spPr>
          <a:xfrm>
            <a:off x="502920" y="181051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5A6685"/>
                </a:solidFill>
                <a:latin typeface="Calibri"/>
                <a:cs typeface="Calibri"/>
              </a:rPr>
              <a:t>SETUP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02920" y="400507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800" b="1" dirty="0">
                <a:solidFill>
                  <a:srgbClr val="232A4D"/>
                </a:solidFill>
                <a:latin typeface="Calibri"/>
                <a:cs typeface="Calibri"/>
              </a:rPr>
              <a:t>Before You Write Any Code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02920" y="1004011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dirty="0">
                <a:solidFill>
                  <a:srgbClr val="5A6685"/>
                </a:solidFill>
                <a:latin typeface="Calibri"/>
                <a:cs typeface="Calibri"/>
              </a:rPr>
              <a:t>Three things, then you are ready to type.</a:t>
            </a:r>
          </a:p>
        </p:txBody>
      </p:sp>
      <p:sp>
        <p:nvSpPr>
          <p:cNvPr id="7" name="FooterRule"/>
          <p:cNvSpPr/>
          <p:nvPr/>
        </p:nvSpPr>
        <p:spPr>
          <a:xfrm>
            <a:off x="502920" y="4828032"/>
            <a:ext cx="8138160" cy="10973"/>
          </a:xfrm>
          <a:prstGeom prst="rect">
            <a:avLst/>
          </a:prstGeom>
          <a:solidFill>
            <a:srgbClr val="D7DF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Left"/>
          <p:cNvSpPr txBox="1"/>
          <p:nvPr/>
        </p:nvSpPr>
        <p:spPr>
          <a:xfrm>
            <a:off x="502920" y="4855464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cgs_ai · Build Your First Pipeline</a:t>
            </a:r>
          </a:p>
        </p:txBody>
      </p:sp>
      <p:sp>
        <p:nvSpPr>
          <p:cNvPr id="9" name="FooterCenter"/>
          <p:cNvSpPr txBox="1"/>
          <p:nvPr/>
        </p:nvSpPr>
        <p:spPr>
          <a:xfrm>
            <a:off x="4572000" y="4855464"/>
            <a:ext cx="288036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claims_report_pipeline_v0_2.py</a:t>
            </a:r>
          </a:p>
        </p:txBody>
      </p:sp>
      <p:sp>
        <p:nvSpPr>
          <p:cNvPr id="10" name="PageNo"/>
          <p:cNvSpPr txBox="1"/>
          <p:nvPr/>
        </p:nvSpPr>
        <p:spPr>
          <a:xfrm>
            <a:off x="7498080" y="4855464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sz="900" b="1" dirty="0">
                <a:solidFill>
                  <a:srgbClr val="1E2761"/>
                </a:solidFill>
                <a:latin typeface="Calibri"/>
                <a:cs typeface="Calibri"/>
              </a:rPr>
              <a:t>3 / 11</a:t>
            </a:r>
          </a:p>
        </p:txBody>
      </p:sp>
      <p:sp>
        <p:nvSpPr>
          <p:cNvPr id="11" name="Card0"/>
          <p:cNvSpPr/>
          <p:nvPr/>
        </p:nvSpPr>
        <p:spPr>
          <a:xfrm>
            <a:off x="502920" y="1430000"/>
            <a:ext cx="2606040" cy="1600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CardBar0"/>
          <p:cNvSpPr/>
          <p:nvPr/>
        </p:nvSpPr>
        <p:spPr>
          <a:xfrm>
            <a:off x="502920" y="1430000"/>
            <a:ext cx="2606040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CardNum0"/>
          <p:cNvSpPr/>
          <p:nvPr/>
        </p:nvSpPr>
        <p:spPr>
          <a:xfrm>
            <a:off x="640080" y="1567160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CardNumT0"/>
          <p:cNvSpPr txBox="1"/>
          <p:nvPr/>
        </p:nvSpPr>
        <p:spPr>
          <a:xfrm>
            <a:off x="640080" y="1631168"/>
            <a:ext cx="32004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5" name="CardTitle0"/>
          <p:cNvSpPr txBox="1"/>
          <p:nvPr/>
        </p:nvSpPr>
        <p:spPr>
          <a:xfrm>
            <a:off x="640080" y="1978640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b="1" dirty="0">
                <a:solidFill>
                  <a:srgbClr val="232A4D"/>
                </a:solidFill>
                <a:latin typeface="Calibri"/>
                <a:cs typeface="Calibri"/>
              </a:rPr>
              <a:t>Make a folder</a:t>
            </a:r>
          </a:p>
        </p:txBody>
      </p:sp>
      <p:sp>
        <p:nvSpPr>
          <p:cNvPr id="16" name="CardBody0"/>
          <p:cNvSpPr txBox="1"/>
          <p:nvPr/>
        </p:nvSpPr>
        <p:spPr>
          <a:xfrm>
            <a:off x="640080" y="2344400"/>
            <a:ext cx="2331720" cy="594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00" dirty="0">
                <a:solidFill>
                  <a:srgbClr val="5A6685"/>
                </a:solidFill>
                <a:latin typeface="Calibri"/>
                <a:cs typeface="Calibri"/>
              </a:rPr>
              <a:t>Somewhere easy to find, for example C:\code\python.</a:t>
            </a:r>
          </a:p>
        </p:txBody>
      </p:sp>
      <p:sp>
        <p:nvSpPr>
          <p:cNvPr id="17" name="Card1"/>
          <p:cNvSpPr/>
          <p:nvPr/>
        </p:nvSpPr>
        <p:spPr>
          <a:xfrm>
            <a:off x="3268980" y="1430000"/>
            <a:ext cx="2606040" cy="1600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CardBar1"/>
          <p:cNvSpPr/>
          <p:nvPr/>
        </p:nvSpPr>
        <p:spPr>
          <a:xfrm>
            <a:off x="3268980" y="1430000"/>
            <a:ext cx="2606040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CardNum1"/>
          <p:cNvSpPr/>
          <p:nvPr/>
        </p:nvSpPr>
        <p:spPr>
          <a:xfrm>
            <a:off x="3406140" y="1567160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CardNumT1"/>
          <p:cNvSpPr txBox="1"/>
          <p:nvPr/>
        </p:nvSpPr>
        <p:spPr>
          <a:xfrm>
            <a:off x="3406140" y="1631168"/>
            <a:ext cx="32004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1" name="CardTitle1"/>
          <p:cNvSpPr txBox="1"/>
          <p:nvPr/>
        </p:nvSpPr>
        <p:spPr>
          <a:xfrm>
            <a:off x="3406140" y="1978640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b="1" dirty="0">
                <a:solidFill>
                  <a:srgbClr val="232A4D"/>
                </a:solidFill>
                <a:latin typeface="Calibri"/>
                <a:cs typeface="Calibri"/>
              </a:rPr>
              <a:t>Open Visual Studio Code</a:t>
            </a:r>
          </a:p>
        </p:txBody>
      </p:sp>
      <p:sp>
        <p:nvSpPr>
          <p:cNvPr id="22" name="CardBody1"/>
          <p:cNvSpPr txBox="1"/>
          <p:nvPr/>
        </p:nvSpPr>
        <p:spPr>
          <a:xfrm>
            <a:off x="3406140" y="2344400"/>
            <a:ext cx="2331720" cy="594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00" dirty="0">
                <a:solidFill>
                  <a:srgbClr val="5A6685"/>
                </a:solidFill>
                <a:latin typeface="Calibri"/>
                <a:cs typeface="Calibri"/>
              </a:rPr>
              <a:t>Then choose File &gt; New File.</a:t>
            </a:r>
          </a:p>
        </p:txBody>
      </p:sp>
      <p:sp>
        <p:nvSpPr>
          <p:cNvPr id="23" name="Card2"/>
          <p:cNvSpPr/>
          <p:nvPr/>
        </p:nvSpPr>
        <p:spPr>
          <a:xfrm>
            <a:off x="6035040" y="1430000"/>
            <a:ext cx="2606040" cy="1600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CardBar2"/>
          <p:cNvSpPr/>
          <p:nvPr/>
        </p:nvSpPr>
        <p:spPr>
          <a:xfrm>
            <a:off x="6035040" y="1430000"/>
            <a:ext cx="2606040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CardNum2"/>
          <p:cNvSpPr/>
          <p:nvPr/>
        </p:nvSpPr>
        <p:spPr>
          <a:xfrm>
            <a:off x="6172200" y="1567160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CardNumT2"/>
          <p:cNvSpPr txBox="1"/>
          <p:nvPr/>
        </p:nvSpPr>
        <p:spPr>
          <a:xfrm>
            <a:off x="6172200" y="1631168"/>
            <a:ext cx="32004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7" name="CardTitle2"/>
          <p:cNvSpPr txBox="1"/>
          <p:nvPr/>
        </p:nvSpPr>
        <p:spPr>
          <a:xfrm>
            <a:off x="6172200" y="1978640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b="1" dirty="0">
                <a:solidFill>
                  <a:srgbClr val="232A4D"/>
                </a:solidFill>
                <a:latin typeface="Calibri"/>
                <a:cs typeface="Calibri"/>
              </a:rPr>
              <a:t>Save it as claims_report_pipeline_v0_2.py</a:t>
            </a:r>
          </a:p>
        </p:txBody>
      </p:sp>
      <p:sp>
        <p:nvSpPr>
          <p:cNvPr id="28" name="CardBody2"/>
          <p:cNvSpPr txBox="1"/>
          <p:nvPr/>
        </p:nvSpPr>
        <p:spPr>
          <a:xfrm>
            <a:off x="6172200" y="2344400"/>
            <a:ext cx="2331720" cy="594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00" dirty="0">
                <a:solidFill>
                  <a:srgbClr val="5A6685"/>
                </a:solidFill>
                <a:latin typeface="Calibri"/>
                <a:cs typeface="Calibri"/>
              </a:rPr>
              <a:t>Into the folder you just made. The .py on the end is what makes it a Python program.</a:t>
            </a:r>
          </a:p>
        </p:txBody>
      </p:sp>
      <p:sp>
        <p:nvSpPr>
          <p:cNvPr id="51" name="Note"/>
          <p:cNvSpPr txBox="1"/>
          <p:nvPr/>
        </p:nvSpPr>
        <p:spPr>
          <a:xfrm>
            <a:off x="502920" y="3300000"/>
            <a:ext cx="813816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50" b="1" dirty="0">
                <a:solidFill>
                  <a:srgbClr val="232A4D"/>
                </a:solidFill>
                <a:latin typeface="Calibri"/>
                <a:cs typeface="Calibri"/>
              </a:rPr>
              <a:t>You need one package:  </a:t>
            </a:r>
            <a:r>
              <a:rPr lang="en-US" sz="1150" dirty="0">
                <a:solidFill>
                  <a:srgbClr val="5A6685"/>
                </a:solidFill>
                <a:latin typeface="Calibri"/>
                <a:cs typeface="Calibri"/>
              </a:rPr>
              <a:t>openpyxl. Install it once with pip install openpyxl.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Bar"/>
          <p:cNvSpPr/>
          <p:nvPr/>
        </p:nvSpPr>
        <p:spPr>
          <a:xfrm>
            <a:off x="0" y="128016"/>
            <a:ext cx="219456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Eyebrow"/>
          <p:cNvSpPr txBox="1"/>
          <p:nvPr/>
        </p:nvSpPr>
        <p:spPr>
          <a:xfrm>
            <a:off x="502920" y="181051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5A6685"/>
                </a:solidFill>
                <a:latin typeface="Calibri"/>
                <a:cs typeface="Calibri"/>
              </a:rPr>
              <a:t>THE CODE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02920" y="400507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800" b="1" dirty="0">
                <a:solidFill>
                  <a:srgbClr val="232A4D"/>
                </a:solidFill>
                <a:latin typeface="Calibri"/>
                <a:cs typeface="Calibri"/>
              </a:rPr>
              <a:t>Start With These Two Lines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02920" y="1004011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dirty="0">
                <a:solidFill>
                  <a:srgbClr val="5A6685"/>
                </a:solidFill>
                <a:latin typeface="Calibri"/>
                <a:cs typeface="Calibri"/>
              </a:rPr>
              <a:t>Every step that follows uses them.</a:t>
            </a:r>
          </a:p>
        </p:txBody>
      </p:sp>
      <p:sp>
        <p:nvSpPr>
          <p:cNvPr id="7" name="FooterRule"/>
          <p:cNvSpPr/>
          <p:nvPr/>
        </p:nvSpPr>
        <p:spPr>
          <a:xfrm>
            <a:off x="502920" y="4828032"/>
            <a:ext cx="8138160" cy="10973"/>
          </a:xfrm>
          <a:prstGeom prst="rect">
            <a:avLst/>
          </a:prstGeom>
          <a:solidFill>
            <a:srgbClr val="D7DF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Left"/>
          <p:cNvSpPr txBox="1"/>
          <p:nvPr/>
        </p:nvSpPr>
        <p:spPr>
          <a:xfrm>
            <a:off x="502920" y="4855464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cgs_ai · Build Your First Pipeline</a:t>
            </a:r>
          </a:p>
        </p:txBody>
      </p:sp>
      <p:sp>
        <p:nvSpPr>
          <p:cNvPr id="9" name="FooterCenter"/>
          <p:cNvSpPr txBox="1"/>
          <p:nvPr/>
        </p:nvSpPr>
        <p:spPr>
          <a:xfrm>
            <a:off x="4572000" y="4855464"/>
            <a:ext cx="288036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claims_report_pipeline_v0_2.py</a:t>
            </a:r>
          </a:p>
        </p:txBody>
      </p:sp>
      <p:sp>
        <p:nvSpPr>
          <p:cNvPr id="10" name="PageNo"/>
          <p:cNvSpPr txBox="1"/>
          <p:nvPr/>
        </p:nvSpPr>
        <p:spPr>
          <a:xfrm>
            <a:off x="7498080" y="4855464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sz="900" b="1" dirty="0">
                <a:solidFill>
                  <a:srgbClr val="1E2761"/>
                </a:solidFill>
                <a:latin typeface="Calibri"/>
                <a:cs typeface="Calibri"/>
              </a:rPr>
              <a:t>4 / 11</a:t>
            </a:r>
          </a:p>
        </p:txBody>
      </p:sp>
      <p:sp>
        <p:nvSpPr>
          <p:cNvPr id="11" name="CodeBg"/>
          <p:cNvSpPr/>
          <p:nvPr/>
        </p:nvSpPr>
        <p:spPr>
          <a:xfrm>
            <a:off x="502920" y="1430000"/>
            <a:ext cx="8138160" cy="1000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CodeTx"/>
          <p:cNvSpPr txBox="1"/>
          <p:nvPr/>
        </p:nvSpPr>
        <p:spPr>
          <a:xfrm>
            <a:off x="640080" y="1567160"/>
            <a:ext cx="7863840" cy="725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00" b="1" dirty="0">
                <a:solidFill>
                  <a:srgbClr val="1E2761"/>
                </a:solidFill>
                <a:latin typeface="Calibri"/>
                <a:cs typeface="Calibri"/>
              </a:rPr>
              <a:t>claims_report_pipeline_v0_2.py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SHARE = r"\\a70admed.com\R1\CGS\...\MANUAL\cgs_ai"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CGS_AI_HOME = SHARE + r"\src\py\lite"</a:t>
            </a:r>
          </a:p>
        </p:txBody>
      </p:sp>
      <p:sp>
        <p:nvSpPr>
          <p:cNvPr id="13" name="Note"/>
          <p:cNvSpPr txBox="1"/>
          <p:nvPr/>
        </p:nvSpPr>
        <p:spPr>
          <a:xfrm>
            <a:off x="502920" y="2750000"/>
            <a:ext cx="813816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50" b="1" dirty="0">
                <a:solidFill>
                  <a:srgbClr val="232A4D"/>
                </a:solidFill>
                <a:latin typeface="Calibri"/>
                <a:cs typeface="Calibri"/>
              </a:rPr>
              <a:t>SHARE is where cgs_ai lives.  </a:t>
            </a:r>
            <a:r>
              <a:rPr lang="en-US" sz="1150" dirty="0">
                <a:solidFill>
                  <a:srgbClr val="5A6685"/>
                </a:solidFill>
                <a:latin typeface="Calibri"/>
                <a:cs typeface="Calibri"/>
              </a:rPr>
              <a:t>CGS_AI_HOME is the folder that CONTAINS the package folder — one level up from cgs_ai itself.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Bar"/>
          <p:cNvSpPr/>
          <p:nvPr/>
        </p:nvSpPr>
        <p:spPr>
          <a:xfrm>
            <a:off x="0" y="128016"/>
            <a:ext cx="219456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Eyebrow"/>
          <p:cNvSpPr txBox="1"/>
          <p:nvPr/>
        </p:nvSpPr>
        <p:spPr>
          <a:xfrm>
            <a:off x="502920" y="181051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5A6685"/>
                </a:solidFill>
                <a:latin typeface="Calibri"/>
                <a:cs typeface="Calibri"/>
              </a:rPr>
              <a:t>STEP 1 OF 4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02920" y="400507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800" b="1" dirty="0">
                <a:solidFill>
                  <a:srgbClr val="232A4D"/>
                </a:solidFill>
                <a:latin typeface="Calibri"/>
                <a:cs typeface="Calibri"/>
              </a:rPr>
              <a:t>Import our own python package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02920" y="1004011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dirty="0">
                <a:solidFill>
                  <a:srgbClr val="5A6685"/>
                </a:solidFill>
                <a:latin typeface="Calibri"/>
                <a:cs typeface="Calibri"/>
              </a:rPr>
              <a:t>Type this, then move on.</a:t>
            </a:r>
          </a:p>
        </p:txBody>
      </p:sp>
      <p:sp>
        <p:nvSpPr>
          <p:cNvPr id="7" name="FooterRule"/>
          <p:cNvSpPr/>
          <p:nvPr/>
        </p:nvSpPr>
        <p:spPr>
          <a:xfrm>
            <a:off x="502920" y="4828032"/>
            <a:ext cx="8138160" cy="10973"/>
          </a:xfrm>
          <a:prstGeom prst="rect">
            <a:avLst/>
          </a:prstGeom>
          <a:solidFill>
            <a:srgbClr val="D7DF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Left"/>
          <p:cNvSpPr txBox="1"/>
          <p:nvPr/>
        </p:nvSpPr>
        <p:spPr>
          <a:xfrm>
            <a:off x="502920" y="4855464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cgs_ai · Build Your First Pipeline</a:t>
            </a:r>
          </a:p>
        </p:txBody>
      </p:sp>
      <p:sp>
        <p:nvSpPr>
          <p:cNvPr id="9" name="FooterCenter"/>
          <p:cNvSpPr txBox="1"/>
          <p:nvPr/>
        </p:nvSpPr>
        <p:spPr>
          <a:xfrm>
            <a:off x="4572000" y="4855464"/>
            <a:ext cx="288036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claims_report_pipeline_v0_2.py</a:t>
            </a:r>
          </a:p>
        </p:txBody>
      </p:sp>
      <p:sp>
        <p:nvSpPr>
          <p:cNvPr id="10" name="PageNo"/>
          <p:cNvSpPr txBox="1"/>
          <p:nvPr/>
        </p:nvSpPr>
        <p:spPr>
          <a:xfrm>
            <a:off x="7498080" y="4855464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sz="900" b="1" dirty="0">
                <a:solidFill>
                  <a:srgbClr val="1E2761"/>
                </a:solidFill>
                <a:latin typeface="Calibri"/>
                <a:cs typeface="Calibri"/>
              </a:rPr>
              <a:t>5 / 11</a:t>
            </a:r>
          </a:p>
        </p:txBody>
      </p:sp>
      <p:sp>
        <p:nvSpPr>
          <p:cNvPr id="11" name="CodeBg"/>
          <p:cNvSpPr/>
          <p:nvPr/>
        </p:nvSpPr>
        <p:spPr>
          <a:xfrm>
            <a:off x="502920" y="1430000"/>
            <a:ext cx="8138160" cy="1240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CodeTx"/>
          <p:cNvSpPr txBox="1"/>
          <p:nvPr/>
        </p:nvSpPr>
        <p:spPr>
          <a:xfrm>
            <a:off x="640080" y="1567160"/>
            <a:ext cx="7863840" cy="965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00" b="1" dirty="0">
                <a:solidFill>
                  <a:srgbClr val="1E2761"/>
                </a:solidFill>
                <a:latin typeface="Calibri"/>
                <a:cs typeface="Calibri"/>
              </a:rPr>
              <a:t>STEP 1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import sys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sys.path.insert(0, CGS_AI_HOME)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import cgs_ai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print('cgs_ai version', cgs_ai.__version__)</a:t>
            </a:r>
          </a:p>
        </p:txBody>
      </p:sp>
      <p:sp>
        <p:nvSpPr>
          <p:cNvPr id="13" name="Note"/>
          <p:cNvSpPr txBox="1"/>
          <p:nvPr/>
        </p:nvSpPr>
        <p:spPr>
          <a:xfrm>
            <a:off x="502920" y="2910000"/>
            <a:ext cx="813816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50" b="1" dirty="0">
                <a:solidFill>
                  <a:srgbClr val="232A4D"/>
                </a:solidFill>
                <a:latin typeface="Calibri"/>
                <a:cs typeface="Calibri"/>
              </a:rPr>
              <a:t>What it does:  </a:t>
            </a:r>
            <a:r>
              <a:rPr lang="en-US" sz="1150" dirty="0">
                <a:solidFill>
                  <a:srgbClr val="5A6685"/>
                </a:solidFill>
                <a:latin typeface="Calibri"/>
                <a:cs typeface="Calibri"/>
              </a:rPr>
              <a:t>Line one tells Python where our package lives; line two imports it, exactly the way you would import pandas.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Bar"/>
          <p:cNvSpPr/>
          <p:nvPr/>
        </p:nvSpPr>
        <p:spPr>
          <a:xfrm>
            <a:off x="0" y="128016"/>
            <a:ext cx="219456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Eyebrow"/>
          <p:cNvSpPr txBox="1"/>
          <p:nvPr/>
        </p:nvSpPr>
        <p:spPr>
          <a:xfrm>
            <a:off x="502920" y="181051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5A6685"/>
                </a:solidFill>
                <a:latin typeface="Calibri"/>
                <a:cs typeface="Calibri"/>
              </a:rPr>
              <a:t>STEP 2 OF 4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02920" y="400507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800" b="1" dirty="0">
                <a:solidFill>
                  <a:srgbClr val="232A4D"/>
                </a:solidFill>
                <a:latin typeface="Calibri"/>
                <a:cs typeface="Calibri"/>
              </a:rPr>
              <a:t>Load the csv data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02920" y="1004011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dirty="0">
                <a:solidFill>
                  <a:srgbClr val="5A6685"/>
                </a:solidFill>
                <a:latin typeface="Calibri"/>
                <a:cs typeface="Calibri"/>
              </a:rPr>
              <a:t>Type this, then move on.</a:t>
            </a:r>
          </a:p>
        </p:txBody>
      </p:sp>
      <p:sp>
        <p:nvSpPr>
          <p:cNvPr id="7" name="FooterRule"/>
          <p:cNvSpPr/>
          <p:nvPr/>
        </p:nvSpPr>
        <p:spPr>
          <a:xfrm>
            <a:off x="502920" y="4828032"/>
            <a:ext cx="8138160" cy="10973"/>
          </a:xfrm>
          <a:prstGeom prst="rect">
            <a:avLst/>
          </a:prstGeom>
          <a:solidFill>
            <a:srgbClr val="D7DF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Left"/>
          <p:cNvSpPr txBox="1"/>
          <p:nvPr/>
        </p:nvSpPr>
        <p:spPr>
          <a:xfrm>
            <a:off x="502920" y="4855464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cgs_ai · Build Your First Pipeline</a:t>
            </a:r>
          </a:p>
        </p:txBody>
      </p:sp>
      <p:sp>
        <p:nvSpPr>
          <p:cNvPr id="9" name="FooterCenter"/>
          <p:cNvSpPr txBox="1"/>
          <p:nvPr/>
        </p:nvSpPr>
        <p:spPr>
          <a:xfrm>
            <a:off x="4572000" y="4855464"/>
            <a:ext cx="288036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claims_report_pipeline_v0_2.py</a:t>
            </a:r>
          </a:p>
        </p:txBody>
      </p:sp>
      <p:sp>
        <p:nvSpPr>
          <p:cNvPr id="10" name="PageNo"/>
          <p:cNvSpPr txBox="1"/>
          <p:nvPr/>
        </p:nvSpPr>
        <p:spPr>
          <a:xfrm>
            <a:off x="7498080" y="4855464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sz="900" b="1" dirty="0">
                <a:solidFill>
                  <a:srgbClr val="1E2761"/>
                </a:solidFill>
                <a:latin typeface="Calibri"/>
                <a:cs typeface="Calibri"/>
              </a:rPr>
              <a:t>6 / 11</a:t>
            </a:r>
          </a:p>
        </p:txBody>
      </p:sp>
      <p:sp>
        <p:nvSpPr>
          <p:cNvPr id="11" name="CodeBg"/>
          <p:cNvSpPr/>
          <p:nvPr/>
        </p:nvSpPr>
        <p:spPr>
          <a:xfrm>
            <a:off x="502920" y="1430000"/>
            <a:ext cx="8138160" cy="1430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CodeTx"/>
          <p:cNvSpPr txBox="1"/>
          <p:nvPr/>
        </p:nvSpPr>
        <p:spPr>
          <a:xfrm>
            <a:off x="640080" y="1567160"/>
            <a:ext cx="7863840" cy="1155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00" b="1" dirty="0">
                <a:solidFill>
                  <a:srgbClr val="1E2761"/>
                </a:solidFill>
                <a:latin typeface="Calibri"/>
                <a:cs typeface="Calibri"/>
              </a:rPr>
              <a:t>STEP 2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import csv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with open(SHARE + r"\data\synthetic_medicare_claims.csv",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          newline='', encoding='utf-8-sig') as f: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    rows = list(csv.DictReader(f))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print(len(rows), 'rows x', len(rows[0]), 'columns')</a:t>
            </a:r>
          </a:p>
        </p:txBody>
      </p:sp>
      <p:sp>
        <p:nvSpPr>
          <p:cNvPr id="13" name="Note"/>
          <p:cNvSpPr txBox="1"/>
          <p:nvPr/>
        </p:nvSpPr>
        <p:spPr>
          <a:xfrm>
            <a:off x="502920" y="3100000"/>
            <a:ext cx="813816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50" b="1" dirty="0">
                <a:solidFill>
                  <a:srgbClr val="232A4D"/>
                </a:solidFill>
                <a:latin typeface="Calibri"/>
                <a:cs typeface="Calibri"/>
              </a:rPr>
              <a:t>What it does:  </a:t>
            </a:r>
            <a:r>
              <a:rPr lang="en-US" sz="1150" dirty="0">
                <a:solidFill>
                  <a:srgbClr val="5A6685"/>
                </a:solidFill>
                <a:latin typeface="Calibri"/>
                <a:cs typeface="Calibri"/>
              </a:rPr>
              <a:t>csv is built into Python — nothing to install. Printing the size confirms you are pointed at the right file.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Bar"/>
          <p:cNvSpPr/>
          <p:nvPr/>
        </p:nvSpPr>
        <p:spPr>
          <a:xfrm>
            <a:off x="0" y="128016"/>
            <a:ext cx="219456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Eyebrow"/>
          <p:cNvSpPr txBox="1"/>
          <p:nvPr/>
        </p:nvSpPr>
        <p:spPr>
          <a:xfrm>
            <a:off x="502920" y="181051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5A6685"/>
                </a:solidFill>
                <a:latin typeface="Calibri"/>
                <a:cs typeface="Calibri"/>
              </a:rPr>
              <a:t>STEP 3 OF 4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02920" y="400507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800" b="1" dirty="0">
                <a:solidFill>
                  <a:srgbClr val="232A4D"/>
                </a:solidFill>
                <a:latin typeface="Calibri"/>
                <a:cs typeface="Calibri"/>
              </a:rPr>
              <a:t>Turn the csv into a formatted Excel file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02920" y="1004011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dirty="0">
                <a:solidFill>
                  <a:srgbClr val="5A6685"/>
                </a:solidFill>
                <a:latin typeface="Calibri"/>
                <a:cs typeface="Calibri"/>
              </a:rPr>
              <a:t>Type this, then move on.</a:t>
            </a:r>
          </a:p>
        </p:txBody>
      </p:sp>
      <p:sp>
        <p:nvSpPr>
          <p:cNvPr id="7" name="FooterRule"/>
          <p:cNvSpPr/>
          <p:nvPr/>
        </p:nvSpPr>
        <p:spPr>
          <a:xfrm>
            <a:off x="502920" y="4828032"/>
            <a:ext cx="8138160" cy="10973"/>
          </a:xfrm>
          <a:prstGeom prst="rect">
            <a:avLst/>
          </a:prstGeom>
          <a:solidFill>
            <a:srgbClr val="D7DF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Left"/>
          <p:cNvSpPr txBox="1"/>
          <p:nvPr/>
        </p:nvSpPr>
        <p:spPr>
          <a:xfrm>
            <a:off x="502920" y="4855464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cgs_ai · Build Your First Pipeline</a:t>
            </a:r>
          </a:p>
        </p:txBody>
      </p:sp>
      <p:sp>
        <p:nvSpPr>
          <p:cNvPr id="9" name="FooterCenter"/>
          <p:cNvSpPr txBox="1"/>
          <p:nvPr/>
        </p:nvSpPr>
        <p:spPr>
          <a:xfrm>
            <a:off x="4572000" y="4855464"/>
            <a:ext cx="288036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claims_report_pipeline_v0_2.py</a:t>
            </a:r>
          </a:p>
        </p:txBody>
      </p:sp>
      <p:sp>
        <p:nvSpPr>
          <p:cNvPr id="10" name="PageNo"/>
          <p:cNvSpPr txBox="1"/>
          <p:nvPr/>
        </p:nvSpPr>
        <p:spPr>
          <a:xfrm>
            <a:off x="7498080" y="4855464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sz="900" b="1" dirty="0">
                <a:solidFill>
                  <a:srgbClr val="1E2761"/>
                </a:solidFill>
                <a:latin typeface="Calibri"/>
                <a:cs typeface="Calibri"/>
              </a:rPr>
              <a:t>7 / 11</a:t>
            </a:r>
          </a:p>
        </p:txBody>
      </p:sp>
      <p:sp>
        <p:nvSpPr>
          <p:cNvPr id="11" name="CodeBg"/>
          <p:cNvSpPr/>
          <p:nvPr/>
        </p:nvSpPr>
        <p:spPr>
          <a:xfrm>
            <a:off x="502920" y="1430000"/>
            <a:ext cx="8138160" cy="1810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CodeTx"/>
          <p:cNvSpPr txBox="1"/>
          <p:nvPr/>
        </p:nvSpPr>
        <p:spPr>
          <a:xfrm>
            <a:off x="640080" y="1567160"/>
            <a:ext cx="7863840" cy="1535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00" b="1" dirty="0">
                <a:solidFill>
                  <a:srgbClr val="1E2761"/>
                </a:solidFill>
                <a:latin typeface="Calibri"/>
                <a:cs typeface="Calibri"/>
              </a:rPr>
              <a:t>STEP 3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result = cgs_ai.formatCSV(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    InputCsvPath=SHARE + r"\data\synthetic_medicare_claims.csv",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    OutputExcelPath=SHARE + r"\data\claims_report.xlsx",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    FormatType='corporatev2',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    SheetName='CMS Synthetic Data',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    Title='CMS Reporting and Analysis')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print(result)</a:t>
            </a:r>
          </a:p>
        </p:txBody>
      </p:sp>
      <p:sp>
        <p:nvSpPr>
          <p:cNvPr id="13" name="Note"/>
          <p:cNvSpPr txBox="1"/>
          <p:nvPr/>
        </p:nvSpPr>
        <p:spPr>
          <a:xfrm>
            <a:off x="502920" y="3480000"/>
            <a:ext cx="813816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50" b="1" dirty="0">
                <a:solidFill>
                  <a:srgbClr val="232A4D"/>
                </a:solidFill>
                <a:latin typeface="Calibri"/>
                <a:cs typeface="Calibri"/>
              </a:rPr>
              <a:t>What it does:  </a:t>
            </a:r>
            <a:r>
              <a:rPr lang="en-US" sz="1150" dirty="0">
                <a:solidFill>
                  <a:srgbClr val="5A6685"/>
                </a:solidFill>
                <a:latin typeface="Calibri"/>
                <a:cs typeface="Calibri"/>
              </a:rPr>
              <a:t>One call replaces all the formatting you would otherwise do by hand, and hands back a result you can check.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Bar"/>
          <p:cNvSpPr/>
          <p:nvPr/>
        </p:nvSpPr>
        <p:spPr>
          <a:xfrm>
            <a:off x="0" y="128016"/>
            <a:ext cx="219456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Eyebrow"/>
          <p:cNvSpPr txBox="1"/>
          <p:nvPr/>
        </p:nvSpPr>
        <p:spPr>
          <a:xfrm>
            <a:off x="502920" y="181051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5A6685"/>
                </a:solidFill>
                <a:latin typeface="Calibri"/>
                <a:cs typeface="Calibri"/>
              </a:rPr>
              <a:t>STEP 4 OF 4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02920" y="400507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800" b="1" dirty="0">
                <a:solidFill>
                  <a:srgbClr val="232A4D"/>
                </a:solidFill>
                <a:latin typeface="Calibri"/>
                <a:cs typeface="Calibri"/>
              </a:rPr>
              <a:t>Send an email notification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02920" y="1004011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dirty="0">
                <a:solidFill>
                  <a:srgbClr val="5A6685"/>
                </a:solidFill>
                <a:latin typeface="Calibri"/>
                <a:cs typeface="Calibri"/>
              </a:rPr>
              <a:t>Type this, then move on.</a:t>
            </a:r>
          </a:p>
        </p:txBody>
      </p:sp>
      <p:sp>
        <p:nvSpPr>
          <p:cNvPr id="7" name="FooterRule"/>
          <p:cNvSpPr/>
          <p:nvPr/>
        </p:nvSpPr>
        <p:spPr>
          <a:xfrm>
            <a:off x="502920" y="4828032"/>
            <a:ext cx="8138160" cy="10973"/>
          </a:xfrm>
          <a:prstGeom prst="rect">
            <a:avLst/>
          </a:prstGeom>
          <a:solidFill>
            <a:srgbClr val="D7DF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Left"/>
          <p:cNvSpPr txBox="1"/>
          <p:nvPr/>
        </p:nvSpPr>
        <p:spPr>
          <a:xfrm>
            <a:off x="502920" y="4855464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cgs_ai · Build Your First Pipeline</a:t>
            </a:r>
          </a:p>
        </p:txBody>
      </p:sp>
      <p:sp>
        <p:nvSpPr>
          <p:cNvPr id="9" name="FooterCenter"/>
          <p:cNvSpPr txBox="1"/>
          <p:nvPr/>
        </p:nvSpPr>
        <p:spPr>
          <a:xfrm>
            <a:off x="4572000" y="4855464"/>
            <a:ext cx="288036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claims_report_pipeline_v0_2.py</a:t>
            </a:r>
          </a:p>
        </p:txBody>
      </p:sp>
      <p:sp>
        <p:nvSpPr>
          <p:cNvPr id="10" name="PageNo"/>
          <p:cNvSpPr txBox="1"/>
          <p:nvPr/>
        </p:nvSpPr>
        <p:spPr>
          <a:xfrm>
            <a:off x="7498080" y="4855464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sz="900" b="1" dirty="0">
                <a:solidFill>
                  <a:srgbClr val="1E2761"/>
                </a:solidFill>
                <a:latin typeface="Calibri"/>
                <a:cs typeface="Calibri"/>
              </a:rPr>
              <a:t>8 / 11</a:t>
            </a:r>
          </a:p>
        </p:txBody>
      </p:sp>
      <p:sp>
        <p:nvSpPr>
          <p:cNvPr id="11" name="CodeBg"/>
          <p:cNvSpPr/>
          <p:nvPr/>
        </p:nvSpPr>
        <p:spPr>
          <a:xfrm>
            <a:off x="502920" y="1430000"/>
            <a:ext cx="8138160" cy="1620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CodeTx"/>
          <p:cNvSpPr txBox="1"/>
          <p:nvPr/>
        </p:nvSpPr>
        <p:spPr>
          <a:xfrm>
            <a:off x="640080" y="1567160"/>
            <a:ext cx="7863840" cy="1345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00" b="1" dirty="0">
                <a:solidFill>
                  <a:srgbClr val="1E2761"/>
                </a:solidFill>
                <a:latin typeface="Calibri"/>
                <a:cs typeface="Calibri"/>
              </a:rPr>
              <a:t>STEP 4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cgs_ai.sendEmail(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    To='manuel.figallo@cgsadmin.com',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    From='manuel.figallo@cgsadmin.com',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    Subject='CMS Reporting and Analysis - workbook ready',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    Body=f"Rows: {result['RowCount']}",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    SmtpServer='smtprelay.bcbssc.com', Port=25)</a:t>
            </a:r>
          </a:p>
        </p:txBody>
      </p:sp>
      <p:sp>
        <p:nvSpPr>
          <p:cNvPr id="13" name="Note"/>
          <p:cNvSpPr txBox="1"/>
          <p:nvPr/>
        </p:nvSpPr>
        <p:spPr>
          <a:xfrm>
            <a:off x="502920" y="3290000"/>
            <a:ext cx="813816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50" b="1" dirty="0">
                <a:solidFill>
                  <a:srgbClr val="232A4D"/>
                </a:solidFill>
                <a:latin typeface="Calibri"/>
                <a:cs typeface="Calibri"/>
              </a:rPr>
              <a:t>What it does:  </a:t>
            </a:r>
            <a:r>
              <a:rPr lang="en-US" sz="1150" dirty="0">
                <a:solidFill>
                  <a:srgbClr val="5A6685"/>
                </a:solidFill>
                <a:latin typeface="Calibri"/>
                <a:cs typeface="Calibri"/>
              </a:rPr>
              <a:t>The row count comes from step 3's result, so the message always reports what was actually written.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Bar"/>
          <p:cNvSpPr/>
          <p:nvPr/>
        </p:nvSpPr>
        <p:spPr>
          <a:xfrm>
            <a:off x="0" y="128016"/>
            <a:ext cx="219456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Eyebrow"/>
          <p:cNvSpPr txBox="1"/>
          <p:nvPr/>
        </p:nvSpPr>
        <p:spPr>
          <a:xfrm>
            <a:off x="502920" y="181051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5A6685"/>
                </a:solidFill>
                <a:latin typeface="Calibri"/>
                <a:cs typeface="Calibri"/>
              </a:rPr>
              <a:t>RUN IT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02920" y="400507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800" b="1" dirty="0">
                <a:solidFill>
                  <a:srgbClr val="232A4D"/>
                </a:solidFill>
                <a:latin typeface="Calibri"/>
                <a:cs typeface="Calibri"/>
              </a:rPr>
              <a:t>Press Run, or Press F5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02920" y="1004011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dirty="0">
                <a:solidFill>
                  <a:srgbClr val="5A6685"/>
                </a:solidFill>
                <a:latin typeface="Calibri"/>
                <a:cs typeface="Calibri"/>
              </a:rPr>
              <a:t>Save the file first. This is what a good run looks like.</a:t>
            </a:r>
          </a:p>
        </p:txBody>
      </p:sp>
      <p:sp>
        <p:nvSpPr>
          <p:cNvPr id="7" name="FooterRule"/>
          <p:cNvSpPr/>
          <p:nvPr/>
        </p:nvSpPr>
        <p:spPr>
          <a:xfrm>
            <a:off x="502920" y="4828032"/>
            <a:ext cx="8138160" cy="10973"/>
          </a:xfrm>
          <a:prstGeom prst="rect">
            <a:avLst/>
          </a:prstGeom>
          <a:solidFill>
            <a:srgbClr val="D7DF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Left"/>
          <p:cNvSpPr txBox="1"/>
          <p:nvPr/>
        </p:nvSpPr>
        <p:spPr>
          <a:xfrm>
            <a:off x="502920" y="4855464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cgs_ai · Build Your First Pipeline</a:t>
            </a:r>
          </a:p>
        </p:txBody>
      </p:sp>
      <p:sp>
        <p:nvSpPr>
          <p:cNvPr id="9" name="FooterCenter"/>
          <p:cNvSpPr txBox="1"/>
          <p:nvPr/>
        </p:nvSpPr>
        <p:spPr>
          <a:xfrm>
            <a:off x="4572000" y="4855464"/>
            <a:ext cx="288036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claims_report_pipeline_v0_2.py</a:t>
            </a:r>
          </a:p>
        </p:txBody>
      </p:sp>
      <p:sp>
        <p:nvSpPr>
          <p:cNvPr id="10" name="PageNo"/>
          <p:cNvSpPr txBox="1"/>
          <p:nvPr/>
        </p:nvSpPr>
        <p:spPr>
          <a:xfrm>
            <a:off x="7498080" y="4855464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sz="900" b="1" dirty="0">
                <a:solidFill>
                  <a:srgbClr val="1E2761"/>
                </a:solidFill>
                <a:latin typeface="Calibri"/>
                <a:cs typeface="Calibri"/>
              </a:rPr>
              <a:t>9 / 11</a:t>
            </a:r>
          </a:p>
        </p:txBody>
      </p:sp>
      <p:sp>
        <p:nvSpPr>
          <p:cNvPr id="11" name="CodeBg"/>
          <p:cNvSpPr/>
          <p:nvPr/>
        </p:nvSpPr>
        <p:spPr>
          <a:xfrm>
            <a:off x="502920" y="1430000"/>
            <a:ext cx="8138160" cy="1250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CodeTx"/>
          <p:cNvSpPr txBox="1"/>
          <p:nvPr/>
        </p:nvSpPr>
        <p:spPr>
          <a:xfrm>
            <a:off x="640080" y="1567160"/>
            <a:ext cx="7863840" cy="975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00" b="1" dirty="0">
                <a:solidFill>
                  <a:srgbClr val="1E2761"/>
                </a:solidFill>
                <a:latin typeface="Calibri"/>
                <a:cs typeface="Calibri"/>
              </a:rPr>
              <a:t>Console output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cgs_ai version 1.0beta-lite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100 rows x 10 columns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{'OutputExcelPath': '...claims_report.xlsx', 'RowCount': 100 ...}</a:t>
            </a:r>
          </a:p>
        </p:txBody>
      </p:sp>
      <p:sp>
        <p:nvSpPr>
          <p:cNvPr id="13" name="Note"/>
          <p:cNvSpPr txBox="1"/>
          <p:nvPr/>
        </p:nvSpPr>
        <p:spPr>
          <a:xfrm>
            <a:off x="502920" y="3000000"/>
            <a:ext cx="813816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50" b="1" dirty="0">
                <a:solidFill>
                  <a:srgbClr val="232A4D"/>
                </a:solidFill>
                <a:latin typeface="Calibri"/>
                <a:cs typeface="Calibri"/>
              </a:rPr>
              <a:t>Then open claims_report.xlsx.  </a:t>
            </a:r>
            <a:r>
              <a:rPr lang="en-US" sz="1150" dirty="0">
                <a:solidFill>
                  <a:srgbClr val="5A6685"/>
                </a:solidFill>
                <a:latin typeface="Calibri"/>
                <a:cs typeface="Calibri"/>
              </a:rPr>
              <a:t>Navy banner, blue headers, striped rows — and a notification waiting in your inbox.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Bar"/>
          <p:cNvSpPr/>
          <p:nvPr/>
        </p:nvSpPr>
        <p:spPr>
          <a:xfrm>
            <a:off x="0" y="128016"/>
            <a:ext cx="219456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Eyebrow"/>
          <p:cNvSpPr txBox="1"/>
          <p:nvPr/>
        </p:nvSpPr>
        <p:spPr>
          <a:xfrm>
            <a:off x="502920" y="181051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5A6685"/>
                </a:solidFill>
                <a:latin typeface="Calibri"/>
                <a:cs typeface="Calibri"/>
              </a:rPr>
              <a:t>TROUBLESHOOTING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02920" y="400507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800" b="1" dirty="0">
                <a:solidFill>
                  <a:srgbClr val="232A4D"/>
                </a:solidFill>
                <a:latin typeface="Calibri"/>
                <a:cs typeface="Calibri"/>
              </a:rPr>
              <a:t>If Something Goes Wrong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02920" y="1004011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dirty="0">
                <a:solidFill>
                  <a:srgbClr val="5A6685"/>
                </a:solidFill>
                <a:latin typeface="Calibri"/>
                <a:cs typeface="Calibri"/>
              </a:rPr>
              <a:t>The three failures you are most likely to hit on the first run.</a:t>
            </a:r>
          </a:p>
        </p:txBody>
      </p:sp>
      <p:sp>
        <p:nvSpPr>
          <p:cNvPr id="7" name="FooterRule"/>
          <p:cNvSpPr/>
          <p:nvPr/>
        </p:nvSpPr>
        <p:spPr>
          <a:xfrm>
            <a:off x="502920" y="4828032"/>
            <a:ext cx="8138160" cy="10973"/>
          </a:xfrm>
          <a:prstGeom prst="rect">
            <a:avLst/>
          </a:prstGeom>
          <a:solidFill>
            <a:srgbClr val="D7DF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Left"/>
          <p:cNvSpPr txBox="1"/>
          <p:nvPr/>
        </p:nvSpPr>
        <p:spPr>
          <a:xfrm>
            <a:off x="502920" y="4855464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cgs_ai · Build Your First Pipeline</a:t>
            </a:r>
          </a:p>
        </p:txBody>
      </p:sp>
      <p:sp>
        <p:nvSpPr>
          <p:cNvPr id="9" name="FooterCenter"/>
          <p:cNvSpPr txBox="1"/>
          <p:nvPr/>
        </p:nvSpPr>
        <p:spPr>
          <a:xfrm>
            <a:off x="4572000" y="4855464"/>
            <a:ext cx="288036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claims_report_pipeline_v0_2.py</a:t>
            </a:r>
          </a:p>
        </p:txBody>
      </p:sp>
      <p:sp>
        <p:nvSpPr>
          <p:cNvPr id="10" name="PageNo"/>
          <p:cNvSpPr txBox="1"/>
          <p:nvPr/>
        </p:nvSpPr>
        <p:spPr>
          <a:xfrm>
            <a:off x="7498080" y="4855464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sz="900" b="1" dirty="0">
                <a:solidFill>
                  <a:srgbClr val="1E2761"/>
                </a:solidFill>
                <a:latin typeface="Calibri"/>
                <a:cs typeface="Calibri"/>
              </a:rPr>
              <a:t>10 / 11</a:t>
            </a:r>
          </a:p>
        </p:txBody>
      </p:sp>
      <p:sp>
        <p:nvSpPr>
          <p:cNvPr id="11" name="Card0"/>
          <p:cNvSpPr/>
          <p:nvPr/>
        </p:nvSpPr>
        <p:spPr>
          <a:xfrm>
            <a:off x="502920" y="1430000"/>
            <a:ext cx="2606040" cy="1700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CardBar0"/>
          <p:cNvSpPr/>
          <p:nvPr/>
        </p:nvSpPr>
        <p:spPr>
          <a:xfrm>
            <a:off x="502920" y="1430000"/>
            <a:ext cx="2606040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CardNum0"/>
          <p:cNvSpPr/>
          <p:nvPr/>
        </p:nvSpPr>
        <p:spPr>
          <a:xfrm>
            <a:off x="640080" y="1567160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CardNumT0"/>
          <p:cNvSpPr txBox="1"/>
          <p:nvPr/>
        </p:nvSpPr>
        <p:spPr>
          <a:xfrm>
            <a:off x="640080" y="1631168"/>
            <a:ext cx="32004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5" name="CardTitle0"/>
          <p:cNvSpPr txBox="1"/>
          <p:nvPr/>
        </p:nvSpPr>
        <p:spPr>
          <a:xfrm>
            <a:off x="640080" y="1978640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b="1" dirty="0">
                <a:solidFill>
                  <a:srgbClr val="232A4D"/>
                </a:solidFill>
                <a:latin typeface="Calibri"/>
                <a:cs typeface="Calibri"/>
              </a:rPr>
              <a:t>ModuleNotFoundError: No module named 'cgs_ai'</a:t>
            </a:r>
          </a:p>
        </p:txBody>
      </p:sp>
      <p:sp>
        <p:nvSpPr>
          <p:cNvPr id="16" name="CardBody0"/>
          <p:cNvSpPr txBox="1"/>
          <p:nvPr/>
        </p:nvSpPr>
        <p:spPr>
          <a:xfrm>
            <a:off x="640080" y="2344400"/>
            <a:ext cx="2331720" cy="694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00" dirty="0">
                <a:solidFill>
                  <a:srgbClr val="5A6685"/>
                </a:solidFill>
                <a:latin typeface="Calibri"/>
                <a:cs typeface="Calibri"/>
              </a:rPr>
              <a:t>CGS_AI_HOME is pointing at the wrong folder, or the share is not mapped on this machine.</a:t>
            </a:r>
          </a:p>
        </p:txBody>
      </p:sp>
      <p:sp>
        <p:nvSpPr>
          <p:cNvPr id="17" name="Card1"/>
          <p:cNvSpPr/>
          <p:nvPr/>
        </p:nvSpPr>
        <p:spPr>
          <a:xfrm>
            <a:off x="3268980" y="1430000"/>
            <a:ext cx="2606040" cy="1700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CardBar1"/>
          <p:cNvSpPr/>
          <p:nvPr/>
        </p:nvSpPr>
        <p:spPr>
          <a:xfrm>
            <a:off x="3268980" y="1430000"/>
            <a:ext cx="2606040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CardNum1"/>
          <p:cNvSpPr/>
          <p:nvPr/>
        </p:nvSpPr>
        <p:spPr>
          <a:xfrm>
            <a:off x="3406140" y="1567160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CardNumT1"/>
          <p:cNvSpPr txBox="1"/>
          <p:nvPr/>
        </p:nvSpPr>
        <p:spPr>
          <a:xfrm>
            <a:off x="3406140" y="1631168"/>
            <a:ext cx="32004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1" name="CardTitle1"/>
          <p:cNvSpPr txBox="1"/>
          <p:nvPr/>
        </p:nvSpPr>
        <p:spPr>
          <a:xfrm>
            <a:off x="3406140" y="1978640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b="1" dirty="0">
                <a:solidFill>
                  <a:srgbClr val="232A4D"/>
                </a:solidFill>
                <a:latin typeface="Calibri"/>
                <a:cs typeface="Calibri"/>
              </a:rPr>
              <a:t>formatCSV requires openpyxl</a:t>
            </a:r>
          </a:p>
        </p:txBody>
      </p:sp>
      <p:sp>
        <p:nvSpPr>
          <p:cNvPr id="22" name="CardBody1"/>
          <p:cNvSpPr txBox="1"/>
          <p:nvPr/>
        </p:nvSpPr>
        <p:spPr>
          <a:xfrm>
            <a:off x="3406140" y="2344400"/>
            <a:ext cx="2331720" cy="694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00" dirty="0">
                <a:solidFill>
                  <a:srgbClr val="5A6685"/>
                </a:solidFill>
                <a:latin typeface="Calibri"/>
                <a:cs typeface="Calibri"/>
              </a:rPr>
              <a:t>Run pip install openpyxl once, then run the program again.</a:t>
            </a:r>
          </a:p>
        </p:txBody>
      </p:sp>
      <p:sp>
        <p:nvSpPr>
          <p:cNvPr id="23" name="Card2"/>
          <p:cNvSpPr/>
          <p:nvPr/>
        </p:nvSpPr>
        <p:spPr>
          <a:xfrm>
            <a:off x="6035040" y="1430000"/>
            <a:ext cx="2606040" cy="1700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CardBar2"/>
          <p:cNvSpPr/>
          <p:nvPr/>
        </p:nvSpPr>
        <p:spPr>
          <a:xfrm>
            <a:off x="6035040" y="1430000"/>
            <a:ext cx="2606040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CardNum2"/>
          <p:cNvSpPr/>
          <p:nvPr/>
        </p:nvSpPr>
        <p:spPr>
          <a:xfrm>
            <a:off x="6172200" y="1567160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CardNumT2"/>
          <p:cNvSpPr txBox="1"/>
          <p:nvPr/>
        </p:nvSpPr>
        <p:spPr>
          <a:xfrm>
            <a:off x="6172200" y="1631168"/>
            <a:ext cx="32004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7" name="CardTitle2"/>
          <p:cNvSpPr txBox="1"/>
          <p:nvPr/>
        </p:nvSpPr>
        <p:spPr>
          <a:xfrm>
            <a:off x="6172200" y="1978640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b="1" dirty="0">
                <a:solidFill>
                  <a:srgbClr val="232A4D"/>
                </a:solidFill>
                <a:latin typeface="Calibri"/>
                <a:cs typeface="Calibri"/>
              </a:rPr>
              <a:t>Connection refused on port 25</a:t>
            </a:r>
          </a:p>
        </p:txBody>
      </p:sp>
      <p:sp>
        <p:nvSpPr>
          <p:cNvPr id="28" name="CardBody2"/>
          <p:cNvSpPr txBox="1"/>
          <p:nvPr/>
        </p:nvSpPr>
        <p:spPr>
          <a:xfrm>
            <a:off x="6172200" y="2344400"/>
            <a:ext cx="2331720" cy="694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00" dirty="0">
                <a:solidFill>
                  <a:srgbClr val="5A6685"/>
                </a:solidFill>
                <a:latin typeface="Calibri"/>
                <a:cs typeface="Calibri"/>
              </a:rPr>
              <a:t>The mail relay is not reachable from your machine. Comment out step 4 and check with IT.</a:t>
            </a:r>
          </a:p>
        </p:txBody>
      </p:sp>
      <p:sp>
        <p:nvSpPr>
          <p:cNvPr id="51" name="Note"/>
          <p:cNvSpPr txBox="1"/>
          <p:nvPr/>
        </p:nvSpPr>
        <p:spPr>
          <a:xfrm>
            <a:off x="502920" y="3400000"/>
            <a:ext cx="813816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50" b="1" dirty="0">
                <a:solidFill>
                  <a:srgbClr val="232A4D"/>
                </a:solidFill>
                <a:latin typeface="Calibri"/>
                <a:cs typeface="Calibri"/>
              </a:rPr>
              <a:t>None of these are your code.  </a:t>
            </a:r>
            <a:r>
              <a:rPr lang="en-US" sz="1150" dirty="0">
                <a:solidFill>
                  <a:srgbClr val="5A6685"/>
                </a:solidFill>
                <a:latin typeface="Calibri"/>
                <a:cs typeface="Calibri"/>
              </a:rPr>
              <a:t>They are the environment. Ask if you hit one.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BigCircle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2A367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mallCircle"/>
          <p:cNvSpPr/>
          <p:nvPr/>
        </p:nvSpPr>
        <p:spPr>
          <a:xfrm>
            <a:off x="7772400" y="457200"/>
            <a:ext cx="822960" cy="822960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CornerCircle"/>
          <p:cNvSpPr/>
          <p:nvPr/>
        </p:nvSpPr>
        <p:spPr>
          <a:xfrm>
            <a:off x="-457200" y="3429000"/>
            <a:ext cx="1828800" cy="1828800"/>
          </a:xfrm>
          <a:prstGeom prst="ellipse">
            <a:avLst/>
          </a:prstGeom>
          <a:solidFill>
            <a:srgbClr val="2A367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itle"/>
          <p:cNvSpPr txBox="1"/>
          <p:nvPr/>
        </p:nvSpPr>
        <p:spPr>
          <a:xfrm>
            <a:off x="640080" y="1188720"/>
            <a:ext cx="6096000" cy="8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4000" b="1" dirty="0">
                <a:solidFill>
                  <a:srgbClr val="FFFFFF"/>
                </a:solidFill>
                <a:latin typeface="Calibri"/>
                <a:cs typeface="Calibri"/>
              </a:rPr>
              <a:t>Questions?</a:t>
            </a:r>
          </a:p>
        </p:txBody>
      </p:sp>
      <p:sp>
        <p:nvSpPr>
          <p:cNvPr id="7" name="Body"/>
          <p:cNvSpPr txBox="1"/>
          <p:nvPr/>
        </p:nvSpPr>
        <p:spPr>
          <a:xfrm>
            <a:off x="640080" y="2194560"/>
            <a:ext cx="6400800" cy="1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dirty="0">
                <a:solidFill>
                  <a:srgbClr val="CADCFC"/>
                </a:solidFill>
                <a:latin typeface="Calibri"/>
                <a:cs typeface="Calibri"/>
              </a:rPr>
              <a:t>Please contact Manuel Figallo with any questions, or with a report you would like added.</a:t>
            </a:r>
          </a:p>
          <a:p>
            <a:pPr marL="0" indent="0" algn="l">
              <a:spcBef>
                <a:spcPts val="800"/>
              </a:spcBef>
              <a:buNone/>
            </a:pPr>
            <a:r>
              <a:rPr lang="en-US" sz="1400" dirty="0">
                <a:solidFill>
                  <a:srgbClr val="CADCFC"/>
                </a:solidFill>
                <a:latin typeface="Calibri"/>
                <a:cs typeface="Calibri"/>
              </a:rPr>
              <a:t>cgs_ai is in beta — feedback on the function names and parameters is especially welcome now, while they are still easy to change.</a:t>
            </a:r>
          </a:p>
        </p:txBody>
      </p:sp>
      <p:sp>
        <p:nvSpPr>
          <p:cNvPr id="8" name="Try"/>
          <p:cNvSpPr txBox="1"/>
          <p:nvPr/>
        </p:nvSpPr>
        <p:spPr>
          <a:xfrm>
            <a:off x="640080" y="4114800"/>
            <a:ext cx="6858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00" dirty="0">
                <a:solidFill>
                  <a:srgbClr val="CADCFC"/>
                </a:solidFill>
                <a:latin typeface="Calibri"/>
                <a:cs typeface="Calibri"/>
              </a:rPr>
              <a:t>Try it: change FormatType to 'plain' and run it again.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722</TotalTime>
  <Words>334</Words>
  <Application>Microsoft Office PowerPoint</Application>
  <PresentationFormat>On-screen Show (16:9)</PresentationFormat>
  <Paragraphs>45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Manuel Figallo</dc:creator>
  <cp:lastModifiedBy>Manuel Figallo</cp:lastModifiedBy>
  <cp:revision>101</cp:revision>
  <dcterms:modified xsi:type="dcterms:W3CDTF">2026-08-27T02:38:10Z</dcterms:modified>
</cp:coreProperties>
</file>