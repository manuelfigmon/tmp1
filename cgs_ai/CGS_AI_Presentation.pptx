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 bookmarkIdSeed="2">
  <p:sldMasterIdLst>
    <p:sldMasterId id="2147483649" r:id="rId1"/>
    <p:sldMasterId id="2147483650" r:id="rId2"/>
  </p:sldMasterIdLst>
  <p:notesMasterIdLst>
    <p:notesMasterId r:id="rId8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F62E6B-F0BC-4D62-B69F-4A93FCC8B00E}">
  <a:tblStyle styleId="{B6F62E6B-F0BC-4D62-B69F-4A93FCC8B0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71" autoAdjust="0"/>
    <p:restoredTop sz="96247" autoAdjust="0"/>
  </p:normalViewPr>
  <p:slideViewPr>
    <p:cSldViewPr snapToGrid="0">
      <p:cViewPr varScale="1">
        <p:scale>
          <a:sx n="110" d="100"/>
          <a:sy n="110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3199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305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ircle1"/>
          <p:cNvSpPr/>
          <p:nvPr/>
        </p:nvSpPr>
        <p:spPr>
          <a:xfrm>
            <a:off x="6949440" y="-1280160"/>
            <a:ext cx="4023360" cy="4023360"/>
          </a:xfrm>
          <a:prstGeom prst="ellipse">
            <a:avLst/>
          </a:prstGeom>
          <a:solidFill>
            <a:srgbClr val="2A367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Circle2"/>
          <p:cNvSpPr/>
          <p:nvPr/>
        </p:nvSpPr>
        <p:spPr>
          <a:xfrm>
            <a:off x="-1280160" y="3566160"/>
            <a:ext cx="3291840" cy="3291840"/>
          </a:xfrm>
          <a:prstGeom prst="ellipse">
            <a:avLst/>
          </a:prstGeom>
          <a:solidFill>
            <a:srgbClr val="2A367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Dot"/>
          <p:cNvSpPr/>
          <p:nvPr/>
        </p:nvSpPr>
        <p:spPr>
          <a:xfrm>
            <a:off x="7818120" y="502920"/>
            <a:ext cx="822960" cy="82296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itle"/>
          <p:cNvSpPr txBox="1"/>
          <p:nvPr/>
        </p:nvSpPr>
        <p:spPr>
          <a:xfrm>
            <a:off x="640080" y="1417320"/>
            <a:ext cx="7863840" cy="10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Calibri"/>
                <a:cs typeface="Calibri"/>
              </a:rPr>
              <a:t>From GUI to Code using CGS_AI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640080" y="25400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000" dirty="0">
                <a:solidFill>
                  <a:srgbClr val="CADCFC"/>
                </a:solidFill>
                <a:latin typeface="Calibri"/>
                <a:cs typeface="Calibri"/>
              </a:rPr>
              <a:t>One toolkit. Three languages. Four environments.</a:t>
            </a:r>
          </a:p>
        </p:txBody>
      </p:sp>
      <p:sp>
        <p:nvSpPr>
          <p:cNvPr id="8" name="Foot"/>
          <p:cNvSpPr txBox="1"/>
          <p:nvPr/>
        </p:nvSpPr>
        <p:spPr>
          <a:xfrm>
            <a:off x="640080" y="4069080"/>
            <a:ext cx="749808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300" dirty="0">
                <a:solidFill>
                  <a:srgbClr val="CADCFC"/>
                </a:solidFill>
                <a:latin typeface="Calibri"/>
                <a:cs typeface="Calibri"/>
              </a:rPr>
              <a:t>A claims-analysis toolkit for SAS, Python and PowerShell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300" dirty="0">
                <a:solidFill>
                  <a:srgbClr val="CADCFC"/>
                </a:solidFill>
                <a:latin typeface="Calibri"/>
                <a:cs typeface="Calibri"/>
              </a:rPr>
              <a:t>Prepared by Manuel Figallo  ·  cgs_ai v1.0beta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AGENDA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What We Will Cover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From why functions matter, through the four environments, to a working pipeline.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From GUI to Code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Prepared by Manuel Figallo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2 / 14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502920" y="1440000"/>
          <a:ext cx="8138160" cy="2240000"/>
        </p:xfrm>
        <a:graphic>
          <a:graphicData uri="http://schemas.openxmlformats.org/drawingml/2006/table">
            <a:tbl>
              <a:tblPr firstRow="1"/>
              <a:tblGrid>
                <a:gridCol w="640080"/>
                <a:gridCol w="4200000"/>
                <a:gridCol w="3298080"/>
              </a:tblGrid>
              <a:tr h="28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Topic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What you take away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</a:tr>
              <a:tr h="245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Introduction to functions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Why reusable functions matter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45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Functions are the new PROCs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A familiar idea in a new place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</a:tr>
              <a:tr h="245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GUI and programming environments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SAS EG, VS Code, Snowflake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45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The function catalog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Eleven functions, one interface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</a:tr>
              <a:tr h="245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Four environments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Desktop, UNIT, PROD, Snowflake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45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Moving up the chain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Performance, reliability, security, automation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</a:tr>
              <a:tr h="245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Use case and scheduling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A pipeline running unattended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45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Conclusions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The foundation for AI pipelines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INTRODUCTION TO FUNCTIONS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Why It Matters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The same logic, written once, callable from anywhere, producing identical output.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From GUI to Code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Prepared by Manuel Figallo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3 / 14</a:t>
            </a:r>
          </a:p>
        </p:txBody>
      </p:sp>
      <p:sp>
        <p:nvSpPr>
          <p:cNvPr id="11" name="Bullets"/>
          <p:cNvSpPr txBox="1"/>
          <p:nvPr/>
        </p:nvSpPr>
        <p:spPr>
          <a:xfrm>
            <a:off x="502920" y="1470000"/>
            <a:ext cx="8138160" cy="31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0000" indent="-180000" algn="l">
              <a:spcBef>
                <a:spcPts val="0"/>
              </a:spcBef>
              <a:buChar char="▪"/>
            </a:pPr>
            <a:r>
              <a:rPr lang="en-US" sz="1200" b="1" dirty="0">
                <a:solidFill>
                  <a:srgbClr val="232A4D"/>
                </a:solidFill>
                <a:latin typeface="Calibri"/>
                <a:cs typeface="Calibri"/>
              </a:rPr>
              <a:t>Write once, run everywhere.  </a:t>
            </a:r>
            <a:r>
              <a:rPr lang="en-US" sz="1200" dirty="0">
                <a:solidFill>
                  <a:srgbClr val="5A6685"/>
                </a:solidFill>
                <a:latin typeface="Calibri"/>
                <a:cs typeface="Calibri"/>
              </a:rPr>
              <a:t>One implementation serves the analyst in SAS, the engineer in Python and the scheduler on the server.</a:t>
            </a:r>
          </a:p>
          <a:p>
            <a:pPr marL="180000" indent="-180000" algn="l">
              <a:spcBef>
                <a:spcPts val="900"/>
              </a:spcBef>
              <a:buChar char="▪"/>
            </a:pPr>
            <a:r>
              <a:rPr lang="en-US" sz="1200" b="1" dirty="0">
                <a:solidFill>
                  <a:srgbClr val="232A4D"/>
                </a:solidFill>
                <a:latin typeface="Calibri"/>
                <a:cs typeface="Calibri"/>
              </a:rPr>
              <a:t>No more copy-paste drift.  </a:t>
            </a:r>
            <a:r>
              <a:rPr lang="en-US" sz="1200" dirty="0">
                <a:solidFill>
                  <a:srgbClr val="5A6685"/>
                </a:solidFill>
                <a:latin typeface="Calibri"/>
                <a:cs typeface="Calibri"/>
              </a:rPr>
              <a:t>Ten variations of the same log-scanning code become one function with parameters.</a:t>
            </a:r>
          </a:p>
          <a:p>
            <a:pPr marL="180000" indent="-180000" algn="l">
              <a:spcBef>
                <a:spcPts val="900"/>
              </a:spcBef>
              <a:buChar char="▪"/>
            </a:pPr>
            <a:r>
              <a:rPr lang="en-US" sz="1200" b="1" dirty="0">
                <a:solidFill>
                  <a:srgbClr val="232A4D"/>
                </a:solidFill>
                <a:latin typeface="Calibri"/>
                <a:cs typeface="Calibri"/>
              </a:rPr>
              <a:t>Parameters replace editing.  </a:t>
            </a:r>
            <a:r>
              <a:rPr lang="en-US" sz="1200" dirty="0">
                <a:solidFill>
                  <a:srgbClr val="5A6685"/>
                </a:solidFill>
                <a:latin typeface="Calibri"/>
                <a:cs typeface="Calibri"/>
              </a:rPr>
              <a:t>Changing a folder, a keyword or a date range is an argument, not a code change requiring review.</a:t>
            </a:r>
          </a:p>
          <a:p>
            <a:pPr marL="180000" indent="-180000" algn="l">
              <a:spcBef>
                <a:spcPts val="900"/>
              </a:spcBef>
              <a:buChar char="▪"/>
            </a:pPr>
            <a:r>
              <a:rPr lang="en-US" sz="1200" b="1" dirty="0">
                <a:solidFill>
                  <a:srgbClr val="232A4D"/>
                </a:solidFill>
                <a:latin typeface="Calibri"/>
                <a:cs typeface="Calibri"/>
              </a:rPr>
              <a:t>Testable and governed.  </a:t>
            </a:r>
            <a:r>
              <a:rPr lang="en-US" sz="1200" dirty="0">
                <a:solidFill>
                  <a:srgbClr val="5A6685"/>
                </a:solidFill>
                <a:latin typeface="Calibri"/>
                <a:cs typeface="Calibri"/>
              </a:rPr>
              <a:t>95 passing automated tests protect behaviour; a change that breaks the contract fails before it ships.</a:t>
            </a:r>
          </a:p>
          <a:p>
            <a:pPr marL="180000" indent="-180000" algn="l">
              <a:spcBef>
                <a:spcPts val="900"/>
              </a:spcBef>
              <a:buChar char="▪"/>
            </a:pPr>
            <a:r>
              <a:rPr lang="en-US" sz="1200" b="1" dirty="0">
                <a:solidFill>
                  <a:srgbClr val="232A4D"/>
                </a:solidFill>
                <a:latin typeface="Calibri"/>
                <a:cs typeface="Calibri"/>
              </a:rPr>
              <a:t>A path from prototype to production.  </a:t>
            </a:r>
            <a:r>
              <a:rPr lang="en-US" sz="1200" dirty="0">
                <a:solidFill>
                  <a:srgbClr val="5A6685"/>
                </a:solidFill>
                <a:latin typeface="Calibri"/>
                <a:cs typeface="Calibri"/>
              </a:rPr>
              <a:t>The same call you try on your desktop is the one the scheduler runs at 2 a.m.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A FAMILIAR IDEA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Functions Are the Equivalent of SAS PROCs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You already think this way. PROC SORT does one job well and takes options; so does every cgs_ai function.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From GUI to Code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Prepared by Manuel Figallo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4 / 14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502920" y="1450000"/>
          <a:ext cx="8138160" cy="1790000"/>
        </p:xfrm>
        <a:graphic>
          <a:graphicData uri="http://schemas.openxmlformats.org/drawingml/2006/table">
            <a:tbl>
              <a:tblPr firstRow="1"/>
              <a:tblGrid>
                <a:gridCol w="2560320"/>
                <a:gridCol w="2788920"/>
                <a:gridCol w="2788920"/>
              </a:tblGrid>
              <a:tr h="29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Concept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 SAS you write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 cgs_ai you call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Do one job well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PROC SORT DATA=claims;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scanFileSystem(...)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Options control it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BY claimId; OUT=sorted;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extract_keyword=, lines_above=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Predictable output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A sorted data set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A CSV or Excel with fixed columns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Reusable everywhere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Any SAS program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SAS, Python, PowerShell, Snowflake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Documented contract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SAS documentation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onsolas"/>
                          <a:cs typeface="Consolas"/>
                        </a:rPr>
                        <a:t>Header block + README.docx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" name="Note"/>
          <p:cNvSpPr txBox="1"/>
          <p:nvPr/>
        </p:nvSpPr>
        <p:spPr>
          <a:xfrm>
            <a:off x="502920" y="3560000"/>
            <a:ext cx="813816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The difference: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a PROC only runs inside SAS. A cgs_ai function runs inside SAS, at a command line, in a Python notebook and in Snowflake — with the same name and the same parameters.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MEANT FOR BOTH WORLDS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GUI and Programming Environments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Nobody has to abandon the tool they already use. The function is the common denominator.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From GUI to Code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Prepared by Manuel Figallo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5 / 14</a:t>
            </a:r>
          </a:p>
        </p:txBody>
      </p:sp>
      <p:sp>
        <p:nvSpPr>
          <p:cNvPr id="11" name="Card0"/>
          <p:cNvSpPr/>
          <p:nvPr/>
        </p:nvSpPr>
        <p:spPr>
          <a:xfrm>
            <a:off x="502920" y="1450000"/>
            <a:ext cx="2606040" cy="19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ardBar0"/>
          <p:cNvSpPr/>
          <p:nvPr/>
        </p:nvSpPr>
        <p:spPr>
          <a:xfrm>
            <a:off x="502920" y="145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CardNum0"/>
          <p:cNvSpPr/>
          <p:nvPr/>
        </p:nvSpPr>
        <p:spPr>
          <a:xfrm>
            <a:off x="640080" y="158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CardNumT0"/>
          <p:cNvSpPr txBox="1"/>
          <p:nvPr/>
        </p:nvSpPr>
        <p:spPr>
          <a:xfrm>
            <a:off x="640080" y="165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5" name="CardTitle0"/>
          <p:cNvSpPr txBox="1"/>
          <p:nvPr/>
        </p:nvSpPr>
        <p:spPr>
          <a:xfrm>
            <a:off x="640080" y="199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GUI — SAS Enterprise Guide</a:t>
            </a:r>
          </a:p>
        </p:txBody>
      </p:sp>
      <p:sp>
        <p:nvSpPr>
          <p:cNvPr id="16" name="CardBody0"/>
          <p:cNvSpPr txBox="1"/>
          <p:nvPr/>
        </p:nvSpPr>
        <p:spPr>
          <a:xfrm>
            <a:off x="640080" y="2364400"/>
            <a:ext cx="2331720" cy="89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The analyst stays in the interface they know. A %macro call in a program node runs the same function, with results returned to the project. No Python knowledge required.</a:t>
            </a:r>
          </a:p>
        </p:txBody>
      </p:sp>
      <p:sp>
        <p:nvSpPr>
          <p:cNvPr id="17" name="Card1"/>
          <p:cNvSpPr/>
          <p:nvPr/>
        </p:nvSpPr>
        <p:spPr>
          <a:xfrm>
            <a:off x="3268980" y="1450000"/>
            <a:ext cx="2606040" cy="19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ardBar1"/>
          <p:cNvSpPr/>
          <p:nvPr/>
        </p:nvSpPr>
        <p:spPr>
          <a:xfrm>
            <a:off x="3268980" y="145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CardNum1"/>
          <p:cNvSpPr/>
          <p:nvPr/>
        </p:nvSpPr>
        <p:spPr>
          <a:xfrm>
            <a:off x="3406140" y="158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CardNumT1"/>
          <p:cNvSpPr txBox="1"/>
          <p:nvPr/>
        </p:nvSpPr>
        <p:spPr>
          <a:xfrm>
            <a:off x="3406140" y="165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1" name="CardTitle1"/>
          <p:cNvSpPr txBox="1"/>
          <p:nvPr/>
        </p:nvSpPr>
        <p:spPr>
          <a:xfrm>
            <a:off x="3406140" y="199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Programming — VS Code</a:t>
            </a:r>
          </a:p>
        </p:txBody>
      </p:sp>
      <p:sp>
        <p:nvSpPr>
          <p:cNvPr id="22" name="CardBody1"/>
          <p:cNvSpPr txBox="1"/>
          <p:nvPr/>
        </p:nvSpPr>
        <p:spPr>
          <a:xfrm>
            <a:off x="3406140" y="2364400"/>
            <a:ext cx="2331720" cy="89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The engineer imports the package, gets autocomplete, sets breakpoints and steps through the code. Full debugging on the same logic the analyst just called.</a:t>
            </a:r>
          </a:p>
        </p:txBody>
      </p:sp>
      <p:sp>
        <p:nvSpPr>
          <p:cNvPr id="23" name="Card2"/>
          <p:cNvSpPr/>
          <p:nvPr/>
        </p:nvSpPr>
        <p:spPr>
          <a:xfrm>
            <a:off x="6035040" y="1450000"/>
            <a:ext cx="2606040" cy="19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CardBar2"/>
          <p:cNvSpPr/>
          <p:nvPr/>
        </p:nvSpPr>
        <p:spPr>
          <a:xfrm>
            <a:off x="6035040" y="145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CardNum2"/>
          <p:cNvSpPr/>
          <p:nvPr/>
        </p:nvSpPr>
        <p:spPr>
          <a:xfrm>
            <a:off x="6172200" y="158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CardNumT2"/>
          <p:cNvSpPr txBox="1"/>
          <p:nvPr/>
        </p:nvSpPr>
        <p:spPr>
          <a:xfrm>
            <a:off x="6172200" y="165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7" name="CardTitle2"/>
          <p:cNvSpPr txBox="1"/>
          <p:nvPr/>
        </p:nvSpPr>
        <p:spPr>
          <a:xfrm>
            <a:off x="6172200" y="199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Programming — Snowflake Worksheets</a:t>
            </a:r>
          </a:p>
        </p:txBody>
      </p:sp>
      <p:sp>
        <p:nvSpPr>
          <p:cNvPr id="28" name="CardBody2"/>
          <p:cNvSpPr txBox="1"/>
          <p:nvPr/>
        </p:nvSpPr>
        <p:spPr>
          <a:xfrm>
            <a:off x="6172200" y="2364400"/>
            <a:ext cx="2331720" cy="89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The cloud path. The same functions run next to the data as a Snowpark procedure, with no download and no local file share.</a:t>
            </a:r>
          </a:p>
        </p:txBody>
      </p:sp>
      <p:sp>
        <p:nvSpPr>
          <p:cNvPr id="95" name="Bridge"/>
          <p:cNvSpPr txBox="1"/>
          <p:nvPr/>
        </p:nvSpPr>
        <p:spPr>
          <a:xfrm>
            <a:off x="502920" y="3560000"/>
            <a:ext cx="813816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The bridge: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src/sas holds wrapper macros only. They launch the PowerShell or Python implementation, so the GUI user and the programmer are running the very same 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THE FUNCTION CATALOG  ·  1 OF 2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Scanning, Data Access and Reporting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Every function exists in Python, PowerShell and as a SAS wrapper, with identical names and parameters.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From GUI to Code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Prepared by Manuel Figallo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6 / 14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502920" y="1420000"/>
          <a:ext cx="8138160" cy="3220000"/>
        </p:xfrm>
        <a:graphic>
          <a:graphicData uri="http://schemas.openxmlformats.org/drawingml/2006/table">
            <a:tbl>
              <a:tblPr firstRow="1"/>
              <a:tblGrid>
                <a:gridCol w="2011680"/>
                <a:gridCol w="6126480"/>
              </a:tblGrid>
              <a:tr h="28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onsolas"/>
                          <a:cs typeface="Consolas"/>
                        </a:rPr>
                        <a:t>scanFileSystem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Scans directory roots for keywords. Returns ONE ROW PER MATCH with the matched line, configurable context lines, and extracted tokens.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onsolas"/>
                          <a:cs typeface="Consolas"/>
                        </a:rPr>
                        <a:t>runSQLServerQuery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Runs a SQL Server query against a LOB catalog using Windows Integrated Security. No password is ever handled, stored or logged.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onsolas"/>
                          <a:cs typeface="Consolas"/>
                        </a:rPr>
                        <a:t>formatCSV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Renders a CSV as a styled Excel workbook with a SAS ODS look and feel: navy banner, blue header, zebra striping.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onsolas"/>
                          <a:cs typeface="Consolas"/>
                        </a:rPr>
                        <a:t>downloadBulkFiles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Downloads every file listed in a CSV link column. Blank cells are skipped; a failed download is logged and the run continues.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onsolas"/>
                          <a:cs typeface="Consolas"/>
                        </a:rPr>
                        <a:t>convertSAS2Pandas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Reads a sas7bdat data set into a pandas DataFrame and saves it as parquet, CSV or pickle.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onsolas"/>
                          <a:cs typeface="Consolas"/>
                        </a:rPr>
                        <a:t>copyExcelSheet2CSV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Exports one worksheet to CSV, validating first and refusing to write when the sheet is not shaped for flat output.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THE FUNCTION CATALOG  ·  2 OF 2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Operations, Packaging and Orchestration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The operational half: alerting, host metrics, archiving and the end-to-end pipeline.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From GUI to Code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Prepared by Manuel Figallo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7 / 14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502920" y="1420000"/>
          <a:ext cx="8138160" cy="3220000"/>
        </p:xfrm>
        <a:graphic>
          <a:graphicData uri="http://schemas.openxmlformats.org/drawingml/2006/table">
            <a:tbl>
              <a:tblPr firstRow="1"/>
              <a:tblGrid>
                <a:gridCol w="2011680"/>
                <a:gridCol w="6126480"/>
              </a:tblGrid>
              <a:tr h="28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Function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onsolas"/>
                          <a:cs typeface="Consolas"/>
                        </a:rPr>
                        <a:t>sendEmail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Sends an SMTP alert to one or many recipients. Used to notify operations when a job finishes or fails.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onsolas"/>
                          <a:cs typeface="Consolas"/>
                        </a:rPr>
                        <a:t>collectSystemMetrics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Gathers host metrics into a CSV time series. Fails gracefully: an unavailable metric is blank and the run still succeeds.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onsolas"/>
                          <a:cs typeface="Consolas"/>
                        </a:rPr>
                        <a:t>zipFolder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Archives a folder plus accompanying files into one zip, for records retention or hand-off.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onsolas"/>
                          <a:cs typeface="Consolas"/>
                        </a:rPr>
                        <a:t>get_comments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Retrieves public comments from Regulations.gov for a docket such as CMS-2022-0193, with an API key held as a secret.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onsolas"/>
                          <a:cs typeface="Consolas"/>
                        </a:rPr>
                        <a:t>runFilescanPipeline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End-to-end orchestration: scanFileSystem, then formatCSV, then sendEmail. Coordinates; never reimplements.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9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onsolas"/>
                          <a:cs typeface="Consolas"/>
                        </a:rPr>
                        <a:t>basic_hello / detailed_hello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Smoke tests that confirm the package imported correctly in a new environment.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WHERE THE FUNCTIONS RUN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Four Environments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The same call, promoted from a laptop to the cloud, with no rewrite at any step.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From GUI to Code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Prepared by Manuel Figallo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8 / 14</a:t>
            </a:r>
          </a:p>
        </p:txBody>
      </p:sp>
      <p:sp>
        <p:nvSpPr>
          <p:cNvPr id="11" name="Card0"/>
          <p:cNvSpPr/>
          <p:nvPr/>
        </p:nvSpPr>
        <p:spPr>
          <a:xfrm>
            <a:off x="502920" y="1430000"/>
            <a:ext cx="1914525" cy="185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ardBar0"/>
          <p:cNvSpPr/>
          <p:nvPr/>
        </p:nvSpPr>
        <p:spPr>
          <a:xfrm>
            <a:off x="502920" y="1430000"/>
            <a:ext cx="1914525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CardNum0"/>
          <p:cNvSpPr/>
          <p:nvPr/>
        </p:nvSpPr>
        <p:spPr>
          <a:xfrm>
            <a:off x="64008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CardNumT0"/>
          <p:cNvSpPr txBox="1"/>
          <p:nvPr/>
        </p:nvSpPr>
        <p:spPr>
          <a:xfrm>
            <a:off x="64008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5" name="CardTitle0"/>
          <p:cNvSpPr txBox="1"/>
          <p:nvPr/>
        </p:nvSpPr>
        <p:spPr>
          <a:xfrm>
            <a:off x="640080" y="1978640"/>
            <a:ext cx="164020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Desktop</a:t>
            </a:r>
          </a:p>
        </p:txBody>
      </p:sp>
      <p:sp>
        <p:nvSpPr>
          <p:cNvPr id="16" name="CardBody0"/>
          <p:cNvSpPr txBox="1"/>
          <p:nvPr/>
        </p:nvSpPr>
        <p:spPr>
          <a:xfrm>
            <a:off x="640080" y="2344400"/>
            <a:ext cx="1640205" cy="84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Develop and explore. VS Code, a local venv, small folders. Fast feedback, full debugging, zero risk to shared systems.</a:t>
            </a:r>
          </a:p>
        </p:txBody>
      </p:sp>
      <p:sp>
        <p:nvSpPr>
          <p:cNvPr id="17" name="Card1"/>
          <p:cNvSpPr/>
          <p:nvPr/>
        </p:nvSpPr>
        <p:spPr>
          <a:xfrm>
            <a:off x="2577465" y="1430000"/>
            <a:ext cx="1914525" cy="185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ardBar1"/>
          <p:cNvSpPr/>
          <p:nvPr/>
        </p:nvSpPr>
        <p:spPr>
          <a:xfrm>
            <a:off x="2577465" y="1430000"/>
            <a:ext cx="1914525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CardNum1"/>
          <p:cNvSpPr/>
          <p:nvPr/>
        </p:nvSpPr>
        <p:spPr>
          <a:xfrm>
            <a:off x="2714625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CardNumT1"/>
          <p:cNvSpPr txBox="1"/>
          <p:nvPr/>
        </p:nvSpPr>
        <p:spPr>
          <a:xfrm>
            <a:off x="2714625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1" name="CardTitle1"/>
          <p:cNvSpPr txBox="1"/>
          <p:nvPr/>
        </p:nvSpPr>
        <p:spPr>
          <a:xfrm>
            <a:off x="2714625" y="1978640"/>
            <a:ext cx="164020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UNIT Server</a:t>
            </a:r>
          </a:p>
        </p:txBody>
      </p:sp>
      <p:sp>
        <p:nvSpPr>
          <p:cNvPr id="22" name="CardBody1"/>
          <p:cNvSpPr txBox="1"/>
          <p:nvPr/>
        </p:nvSpPr>
        <p:spPr>
          <a:xfrm>
            <a:off x="2714625" y="2344400"/>
            <a:ext cx="1640205" cy="84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Test at real scale against real UNC shares and the LOB data marts. Validate before anything touches production.</a:t>
            </a:r>
          </a:p>
        </p:txBody>
      </p:sp>
      <p:sp>
        <p:nvSpPr>
          <p:cNvPr id="23" name="Card2"/>
          <p:cNvSpPr/>
          <p:nvPr/>
        </p:nvSpPr>
        <p:spPr>
          <a:xfrm>
            <a:off x="4652010" y="1430000"/>
            <a:ext cx="1914525" cy="185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CardBar2"/>
          <p:cNvSpPr/>
          <p:nvPr/>
        </p:nvSpPr>
        <p:spPr>
          <a:xfrm>
            <a:off x="4652010" y="1430000"/>
            <a:ext cx="1914525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CardNum2"/>
          <p:cNvSpPr/>
          <p:nvPr/>
        </p:nvSpPr>
        <p:spPr>
          <a:xfrm>
            <a:off x="478917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CardNumT2"/>
          <p:cNvSpPr txBox="1"/>
          <p:nvPr/>
        </p:nvSpPr>
        <p:spPr>
          <a:xfrm>
            <a:off x="478917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7" name="CardTitle2"/>
          <p:cNvSpPr txBox="1"/>
          <p:nvPr/>
        </p:nvSpPr>
        <p:spPr>
          <a:xfrm>
            <a:off x="4789170" y="1978640"/>
            <a:ext cx="164020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PROD Server</a:t>
            </a:r>
          </a:p>
        </p:txBody>
      </p:sp>
      <p:sp>
        <p:nvSpPr>
          <p:cNvPr id="28" name="CardBody2"/>
          <p:cNvSpPr txBox="1"/>
          <p:nvPr/>
        </p:nvSpPr>
        <p:spPr>
          <a:xfrm>
            <a:off x="4789170" y="2344400"/>
            <a:ext cx="1640205" cy="84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Run for the business. Scheduled, unattended, monitored, with results delivered to the operations mailbox.</a:t>
            </a:r>
          </a:p>
        </p:txBody>
      </p:sp>
      <p:sp>
        <p:nvSpPr>
          <p:cNvPr id="29" name="Card3"/>
          <p:cNvSpPr/>
          <p:nvPr/>
        </p:nvSpPr>
        <p:spPr>
          <a:xfrm>
            <a:off x="6726555" y="1430000"/>
            <a:ext cx="1914525" cy="185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CardBar3"/>
          <p:cNvSpPr/>
          <p:nvPr/>
        </p:nvSpPr>
        <p:spPr>
          <a:xfrm>
            <a:off x="6726555" y="1430000"/>
            <a:ext cx="1914525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CardNum3"/>
          <p:cNvSpPr/>
          <p:nvPr/>
        </p:nvSpPr>
        <p:spPr>
          <a:xfrm>
            <a:off x="6863715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CardNumT3"/>
          <p:cNvSpPr txBox="1"/>
          <p:nvPr/>
        </p:nvSpPr>
        <p:spPr>
          <a:xfrm>
            <a:off x="6863715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33" name="CardTitle3"/>
          <p:cNvSpPr txBox="1"/>
          <p:nvPr/>
        </p:nvSpPr>
        <p:spPr>
          <a:xfrm>
            <a:off x="6863715" y="1978640"/>
            <a:ext cx="164020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Snowflake Cloud</a:t>
            </a:r>
          </a:p>
        </p:txBody>
      </p:sp>
      <p:sp>
        <p:nvSpPr>
          <p:cNvPr id="34" name="CardBody3"/>
          <p:cNvSpPr txBox="1"/>
          <p:nvPr/>
        </p:nvSpPr>
        <p:spPr>
          <a:xfrm>
            <a:off x="6863715" y="2344400"/>
            <a:ext cx="1640205" cy="84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Run next to the data. Elastic compute, governed access, no file shares to mount and no server to patch.</a:t>
            </a:r>
          </a:p>
        </p:txBody>
      </p:sp>
      <p:sp>
        <p:nvSpPr>
          <p:cNvPr id="96" name="Note"/>
          <p:cNvSpPr txBox="1"/>
          <p:nvPr/>
        </p:nvSpPr>
        <p:spPr>
          <a:xfrm>
            <a:off x="502920" y="3520000"/>
            <a:ext cx="8138160" cy="5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One codebase, four homes.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Configuration lives in .env, so promoting a job between environments changes paths and credentials — never the code.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ENVIRONMENT COMPARISON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Choosing the Right Environment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Each tier has a purpose. Work moves left to right as it matures.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From GUI to Code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Prepared by Manuel Figallo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9 / 14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502920" y="1420000"/>
          <a:ext cx="8138160" cy="1910000"/>
        </p:xfrm>
        <a:graphic>
          <a:graphicData uri="http://schemas.openxmlformats.org/drawingml/2006/table">
            <a:tbl>
              <a:tblPr firstRow="1"/>
              <a:tblGrid>
                <a:gridCol w="1500000"/>
                <a:gridCol w="1659540"/>
                <a:gridCol w="1659540"/>
                <a:gridCol w="1659540"/>
                <a:gridCol w="1659540"/>
              </a:tblGrid>
              <a:tr h="29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Dimension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Desktop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UNIT Server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PROD Server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Snowflake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Purpose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Develop, explore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Test at scale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Run the business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Run next to data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Data volume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Small samples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Full test sets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Full production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Warehouse scale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Runs when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You press F5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On demand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Scheduled, unattended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Scheduled task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Availability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Your machine only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Shared, business hours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Managed, monitored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Cloud SLA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Credentials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Your own login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Service account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Service account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Snowflake secret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Interface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VS Code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SAS EG, CLI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Scheduler, SAS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95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Worksheets, Snowpark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WHY PROMOTE WORK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The Benefits of Moving Up the Chain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Every step toward the server and the cloud buys something concrete.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From GUI to Code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Prepared by Manuel Figallo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10 / 14</a:t>
            </a:r>
          </a:p>
        </p:txBody>
      </p:sp>
      <p:sp>
        <p:nvSpPr>
          <p:cNvPr id="11" name="Card0"/>
          <p:cNvSpPr/>
          <p:nvPr/>
        </p:nvSpPr>
        <p:spPr>
          <a:xfrm>
            <a:off x="502920" y="1430000"/>
            <a:ext cx="1914525" cy="21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ardBar0"/>
          <p:cNvSpPr/>
          <p:nvPr/>
        </p:nvSpPr>
        <p:spPr>
          <a:xfrm>
            <a:off x="502920" y="1430000"/>
            <a:ext cx="1914525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CardNum0"/>
          <p:cNvSpPr/>
          <p:nvPr/>
        </p:nvSpPr>
        <p:spPr>
          <a:xfrm>
            <a:off x="64008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CardNumT0"/>
          <p:cNvSpPr txBox="1"/>
          <p:nvPr/>
        </p:nvSpPr>
        <p:spPr>
          <a:xfrm>
            <a:off x="64008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5" name="CardTitle0"/>
          <p:cNvSpPr txBox="1"/>
          <p:nvPr/>
        </p:nvSpPr>
        <p:spPr>
          <a:xfrm>
            <a:off x="640080" y="1978640"/>
            <a:ext cx="164020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Better performance</a:t>
            </a:r>
          </a:p>
        </p:txBody>
      </p:sp>
      <p:sp>
        <p:nvSpPr>
          <p:cNvPr id="16" name="CardBody0"/>
          <p:cNvSpPr txBox="1"/>
          <p:nvPr/>
        </p:nvSpPr>
        <p:spPr>
          <a:xfrm>
            <a:off x="640080" y="2344400"/>
            <a:ext cx="1640205" cy="109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Server-class CPU, memory and network. A scan that crawls a UNC share over a laptop VPN runs beside the data instead. Snowflake adds elastic compute that scales with the workload.</a:t>
            </a:r>
          </a:p>
        </p:txBody>
      </p:sp>
      <p:sp>
        <p:nvSpPr>
          <p:cNvPr id="17" name="Card1"/>
          <p:cNvSpPr/>
          <p:nvPr/>
        </p:nvSpPr>
        <p:spPr>
          <a:xfrm>
            <a:off x="2577465" y="1430000"/>
            <a:ext cx="1914525" cy="21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ardBar1"/>
          <p:cNvSpPr/>
          <p:nvPr/>
        </p:nvSpPr>
        <p:spPr>
          <a:xfrm>
            <a:off x="2577465" y="1430000"/>
            <a:ext cx="1914525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CardNum1"/>
          <p:cNvSpPr/>
          <p:nvPr/>
        </p:nvSpPr>
        <p:spPr>
          <a:xfrm>
            <a:off x="2714625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CardNumT1"/>
          <p:cNvSpPr txBox="1"/>
          <p:nvPr/>
        </p:nvSpPr>
        <p:spPr>
          <a:xfrm>
            <a:off x="2714625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1" name="CardTitle1"/>
          <p:cNvSpPr txBox="1"/>
          <p:nvPr/>
        </p:nvSpPr>
        <p:spPr>
          <a:xfrm>
            <a:off x="2714625" y="1978640"/>
            <a:ext cx="164020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More reliability</a:t>
            </a:r>
          </a:p>
        </p:txBody>
      </p:sp>
      <p:sp>
        <p:nvSpPr>
          <p:cNvPr id="22" name="CardBody1"/>
          <p:cNvSpPr txBox="1"/>
          <p:nvPr/>
        </p:nvSpPr>
        <p:spPr>
          <a:xfrm>
            <a:off x="2714625" y="2344400"/>
            <a:ext cx="1640205" cy="109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No dependency on one person's machine being awake, patched or connected. Managed hosts, restart policies and monitored storage replace 'it worked on my laptop'.</a:t>
            </a:r>
          </a:p>
        </p:txBody>
      </p:sp>
      <p:sp>
        <p:nvSpPr>
          <p:cNvPr id="23" name="Card2"/>
          <p:cNvSpPr/>
          <p:nvPr/>
        </p:nvSpPr>
        <p:spPr>
          <a:xfrm>
            <a:off x="4652010" y="1430000"/>
            <a:ext cx="1914525" cy="21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CardBar2"/>
          <p:cNvSpPr/>
          <p:nvPr/>
        </p:nvSpPr>
        <p:spPr>
          <a:xfrm>
            <a:off x="4652010" y="1430000"/>
            <a:ext cx="1914525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CardNum2"/>
          <p:cNvSpPr/>
          <p:nvPr/>
        </p:nvSpPr>
        <p:spPr>
          <a:xfrm>
            <a:off x="478917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CardNumT2"/>
          <p:cNvSpPr txBox="1"/>
          <p:nvPr/>
        </p:nvSpPr>
        <p:spPr>
          <a:xfrm>
            <a:off x="478917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7" name="CardTitle2"/>
          <p:cNvSpPr txBox="1"/>
          <p:nvPr/>
        </p:nvSpPr>
        <p:spPr>
          <a:xfrm>
            <a:off x="4789170" y="1978640"/>
            <a:ext cx="164020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More security</a:t>
            </a:r>
          </a:p>
        </p:txBody>
      </p:sp>
      <p:sp>
        <p:nvSpPr>
          <p:cNvPr id="28" name="CardBody2"/>
          <p:cNvSpPr txBox="1"/>
          <p:nvPr/>
        </p:nvSpPr>
        <p:spPr>
          <a:xfrm>
            <a:off x="4789170" y="2344400"/>
            <a:ext cx="1640205" cy="109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Service accounts and Integrated Security instead of personal logins. Secrets in .env or a Snowflake secret, never in code. Access is auditable and revocable.</a:t>
            </a:r>
          </a:p>
        </p:txBody>
      </p:sp>
      <p:sp>
        <p:nvSpPr>
          <p:cNvPr id="29" name="Card3"/>
          <p:cNvSpPr/>
          <p:nvPr/>
        </p:nvSpPr>
        <p:spPr>
          <a:xfrm>
            <a:off x="6726555" y="1430000"/>
            <a:ext cx="1914525" cy="21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CardBar3"/>
          <p:cNvSpPr/>
          <p:nvPr/>
        </p:nvSpPr>
        <p:spPr>
          <a:xfrm>
            <a:off x="6726555" y="1430000"/>
            <a:ext cx="1914525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CardNum3"/>
          <p:cNvSpPr/>
          <p:nvPr/>
        </p:nvSpPr>
        <p:spPr>
          <a:xfrm>
            <a:off x="6863715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CardNumT3"/>
          <p:cNvSpPr txBox="1"/>
          <p:nvPr/>
        </p:nvSpPr>
        <p:spPr>
          <a:xfrm>
            <a:off x="6863715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33" name="CardTitle3"/>
          <p:cNvSpPr txBox="1"/>
          <p:nvPr/>
        </p:nvSpPr>
        <p:spPr>
          <a:xfrm>
            <a:off x="6863715" y="1978640"/>
            <a:ext cx="164020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Maintenance and automation</a:t>
            </a:r>
          </a:p>
        </p:txBody>
      </p:sp>
      <p:sp>
        <p:nvSpPr>
          <p:cNvPr id="34" name="CardBody3"/>
          <p:cNvSpPr txBox="1"/>
          <p:nvPr/>
        </p:nvSpPr>
        <p:spPr>
          <a:xfrm>
            <a:off x="6863715" y="2344400"/>
            <a:ext cx="1640205" cy="109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One scheduled job replaces a manual routine. Central logs, email alerts on completion or failure, and one deployed copy to patch rather than many desktop copies.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USE CASE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Scan, Format, Alert: One Pipeline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The nightly job: sweep the SAS log shares, produce a formatted workbook, notify operations.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From GUI to Code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Prepared by Manuel Figallo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11 / 14</a:t>
            </a:r>
          </a:p>
        </p:txBody>
      </p:sp>
      <p:sp>
        <p:nvSpPr>
          <p:cNvPr id="11" name="Card0"/>
          <p:cNvSpPr/>
          <p:nvPr/>
        </p:nvSpPr>
        <p:spPr>
          <a:xfrm>
            <a:off x="502920" y="1430000"/>
            <a:ext cx="2606040" cy="195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ardBar0"/>
          <p:cNvSpPr/>
          <p:nvPr/>
        </p:nvSpPr>
        <p:spPr>
          <a:xfrm>
            <a:off x="502920" y="143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CardNum0"/>
          <p:cNvSpPr/>
          <p:nvPr/>
        </p:nvSpPr>
        <p:spPr>
          <a:xfrm>
            <a:off x="64008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CardNumT0"/>
          <p:cNvSpPr txBox="1"/>
          <p:nvPr/>
        </p:nvSpPr>
        <p:spPr>
          <a:xfrm>
            <a:off x="64008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5" name="CardTitle0"/>
          <p:cNvSpPr txBox="1"/>
          <p:nvPr/>
        </p:nvSpPr>
        <p:spPr>
          <a:xfrm>
            <a:off x="640080" y="197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scanFileSystem</a:t>
            </a:r>
          </a:p>
        </p:txBody>
      </p:sp>
      <p:sp>
        <p:nvSpPr>
          <p:cNvPr id="16" name="CardBody0"/>
          <p:cNvSpPr txBox="1"/>
          <p:nvPr/>
        </p:nvSpPr>
        <p:spPr>
          <a:xfrm>
            <a:off x="640080" y="2344400"/>
            <a:ext cx="2331720" cy="94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Sweeps the HHH and DME log shares for 'real time' and 'cpu time'. Returns one row per match with context lines. With metric_profile=sas_log it also writes a Metrics sheet of per-step timings.</a:t>
            </a:r>
          </a:p>
        </p:txBody>
      </p:sp>
      <p:sp>
        <p:nvSpPr>
          <p:cNvPr id="17" name="Card1"/>
          <p:cNvSpPr/>
          <p:nvPr/>
        </p:nvSpPr>
        <p:spPr>
          <a:xfrm>
            <a:off x="3268980" y="1430000"/>
            <a:ext cx="2606040" cy="195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ardBar1"/>
          <p:cNvSpPr/>
          <p:nvPr/>
        </p:nvSpPr>
        <p:spPr>
          <a:xfrm>
            <a:off x="3268980" y="143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CardNum1"/>
          <p:cNvSpPr/>
          <p:nvPr/>
        </p:nvSpPr>
        <p:spPr>
          <a:xfrm>
            <a:off x="340614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CardNumT1"/>
          <p:cNvSpPr txBox="1"/>
          <p:nvPr/>
        </p:nvSpPr>
        <p:spPr>
          <a:xfrm>
            <a:off x="340614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1" name="CardTitle1"/>
          <p:cNvSpPr txBox="1"/>
          <p:nvPr/>
        </p:nvSpPr>
        <p:spPr>
          <a:xfrm>
            <a:off x="3406140" y="197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formatCSV</a:t>
            </a:r>
          </a:p>
        </p:txBody>
      </p:sp>
      <p:sp>
        <p:nvSpPr>
          <p:cNvPr id="22" name="CardBody1"/>
          <p:cNvSpPr txBox="1"/>
          <p:nvPr/>
        </p:nvSpPr>
        <p:spPr>
          <a:xfrm>
            <a:off x="3406140" y="2344400"/>
            <a:ext cx="2331720" cy="94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Turns the raw result into a corporate-styled Excel workbook: navy banner, blue headers, zebra striping, frozen and filtered header row. Ready to send to a manager as-is.</a:t>
            </a:r>
          </a:p>
        </p:txBody>
      </p:sp>
      <p:sp>
        <p:nvSpPr>
          <p:cNvPr id="23" name="Card2"/>
          <p:cNvSpPr/>
          <p:nvPr/>
        </p:nvSpPr>
        <p:spPr>
          <a:xfrm>
            <a:off x="6035040" y="1430000"/>
            <a:ext cx="2606040" cy="195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CardBar2"/>
          <p:cNvSpPr/>
          <p:nvPr/>
        </p:nvSpPr>
        <p:spPr>
          <a:xfrm>
            <a:off x="6035040" y="1430000"/>
            <a:ext cx="2606040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CardNum2"/>
          <p:cNvSpPr/>
          <p:nvPr/>
        </p:nvSpPr>
        <p:spPr>
          <a:xfrm>
            <a:off x="6172200" y="1567160"/>
            <a:ext cx="320040" cy="3200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CardNumT2"/>
          <p:cNvSpPr txBox="1"/>
          <p:nvPr/>
        </p:nvSpPr>
        <p:spPr>
          <a:xfrm>
            <a:off x="6172200" y="1631168"/>
            <a:ext cx="32004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7" name="CardTitle2"/>
          <p:cNvSpPr txBox="1"/>
          <p:nvPr/>
        </p:nvSpPr>
        <p:spPr>
          <a:xfrm>
            <a:off x="6172200" y="1978640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232A4D"/>
                </a:solidFill>
                <a:latin typeface="Calibri"/>
                <a:cs typeface="Calibri"/>
              </a:rPr>
              <a:t>sendEmail</a:t>
            </a:r>
          </a:p>
        </p:txBody>
      </p:sp>
      <p:sp>
        <p:nvSpPr>
          <p:cNvPr id="28" name="CardBody2"/>
          <p:cNvSpPr txBox="1"/>
          <p:nvPr/>
        </p:nvSpPr>
        <p:spPr>
          <a:xfrm>
            <a:off x="6172200" y="2344400"/>
            <a:ext cx="2331720" cy="944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5A6685"/>
                </a:solidFill>
                <a:latin typeface="Calibri"/>
                <a:cs typeface="Calibri"/>
              </a:rPr>
              <a:t>Notifies the operations mailbox with row counts and output paths. If mail fails the pipeline still succeeds, because the workbook is already on disk.</a:t>
            </a:r>
          </a:p>
        </p:txBody>
      </p:sp>
      <p:sp>
        <p:nvSpPr>
          <p:cNvPr id="97" name="Note"/>
          <p:cNvSpPr txBox="1"/>
          <p:nvPr/>
        </p:nvSpPr>
        <p:spPr>
          <a:xfrm>
            <a:off x="502920" y="3620000"/>
            <a:ext cx="813816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Orchestration only.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The pipeline calls the three functions and does no work itself — so fixing the scanner fixes it everywhere.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THE SAME CALL, THREE WAYS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One Pipeline, Three Languages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Identical function names and identical parameter names. Only the surrounding syntax changes.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From GUI to Code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Prepared by Manuel Figallo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12 / 14</a:t>
            </a:r>
          </a:p>
        </p:txBody>
      </p:sp>
      <p:sp>
        <p:nvSpPr>
          <p:cNvPr id="11" name="CodeBg"/>
          <p:cNvSpPr/>
          <p:nvPr/>
        </p:nvSpPr>
        <p:spPr>
          <a:xfrm>
            <a:off x="502920" y="1450000"/>
            <a:ext cx="2606040" cy="20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odeTx"/>
          <p:cNvSpPr txBox="1"/>
          <p:nvPr/>
        </p:nvSpPr>
        <p:spPr>
          <a:xfrm>
            <a:off x="640080" y="1587160"/>
            <a:ext cx="2331720" cy="1725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b="1" dirty="0">
                <a:solidFill>
                  <a:srgbClr val="1E2761"/>
                </a:solidFill>
                <a:latin typeface="Calibri"/>
                <a:cs typeface="Calibri"/>
              </a:rPr>
              <a:t>SAS  ·  Enterprise Guide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%runFilescanPipeline(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extract_keyword=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%str(real time),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metric_profile=sas_log,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email_to=ops@cgs.com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13" name="CodeBg"/>
          <p:cNvSpPr/>
          <p:nvPr/>
        </p:nvSpPr>
        <p:spPr>
          <a:xfrm>
            <a:off x="3268980" y="1450000"/>
            <a:ext cx="2606040" cy="20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CodeTx"/>
          <p:cNvSpPr txBox="1"/>
          <p:nvPr/>
        </p:nvSpPr>
        <p:spPr>
          <a:xfrm>
            <a:off x="3406140" y="1587160"/>
            <a:ext cx="2331720" cy="1725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b="1" dirty="0">
                <a:solidFill>
                  <a:srgbClr val="1E2761"/>
                </a:solidFill>
                <a:latin typeface="Calibri"/>
                <a:cs typeface="Calibri"/>
              </a:rPr>
              <a:t>Python  ·  VS Code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cgs_ai.runFilescanPipeline(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extract_keyword=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['real time'],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metric_profile='sas_log',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email_to='ops@cgs.com')</a:t>
            </a:r>
          </a:p>
        </p:txBody>
      </p:sp>
      <p:sp>
        <p:nvSpPr>
          <p:cNvPr id="15" name="CodeBg"/>
          <p:cNvSpPr/>
          <p:nvPr/>
        </p:nvSpPr>
        <p:spPr>
          <a:xfrm>
            <a:off x="6035040" y="1450000"/>
            <a:ext cx="2606040" cy="20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CodeTx"/>
          <p:cNvSpPr txBox="1"/>
          <p:nvPr/>
        </p:nvSpPr>
        <p:spPr>
          <a:xfrm>
            <a:off x="6172200" y="1587160"/>
            <a:ext cx="2331720" cy="1725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b="1" dirty="0">
                <a:solidFill>
                  <a:srgbClr val="1E2761"/>
                </a:solidFill>
                <a:latin typeface="Calibri"/>
                <a:cs typeface="Calibri"/>
              </a:rPr>
              <a:t>PowerShell  ·  Scheduler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.\filescan_pipeline.ps1 `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-extract_keyword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  'real time' `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-metric_profile sas_log `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232A4D"/>
                </a:solidFill>
                <a:latin typeface="Consolas"/>
                <a:cs typeface="Consolas"/>
              </a:rPr>
              <a:t>  -email_to ops@cgs.com</a:t>
            </a:r>
          </a:p>
        </p:txBody>
      </p:sp>
      <p:sp>
        <p:nvSpPr>
          <p:cNvPr id="99" name="Note"/>
          <p:cNvSpPr txBox="1"/>
          <p:nvPr/>
        </p:nvSpPr>
        <p:spPr>
          <a:xfrm>
            <a:off x="502920" y="3620000"/>
            <a:ext cx="8138160" cy="5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Why this matters: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an analyst can hand a working call to an engineer, or a scheduler, without translation. The SAS macro even takes engine=ps or engine=py to switch implementation without changing any other argument.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AUTOMATION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Scheduling the Pipeline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The step that turns a useful script into an operational service.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From GUI to Code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Prepared by Manuel Figallo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13 / 14</a:t>
            </a:r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502920" y="1420000"/>
          <a:ext cx="8138160" cy="2130000"/>
        </p:xfrm>
        <a:graphic>
          <a:graphicData uri="http://schemas.openxmlformats.org/drawingml/2006/table">
            <a:tbl>
              <a:tblPr firstRow="1"/>
              <a:tblGrid>
                <a:gridCol w="1700000"/>
                <a:gridCol w="2100000"/>
                <a:gridCol w="4338160"/>
              </a:tblGrid>
              <a:tr h="29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Environment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Scheduled by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How it runs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1E2761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Desktop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Manual / F5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Development only. Not a place to schedule business work.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UNIT Server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Windows Task Scheduler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A .bat calling the PowerShell or Python entry point, for test runs against real data.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PROD Server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Task Scheduler / SAS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Unattended, service account, exit codes 0/2/3 so the scheduler detects failure. Output and alerts are the deliverable.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b="1" dirty="0">
                          <a:solidFill>
                            <a:srgbClr val="232A4D"/>
                          </a:solidFill>
                          <a:latin typeface="Calibri"/>
                          <a:cs typeface="Calibri"/>
                        </a:rPr>
                        <a:t>Snowflake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Snowflake TASK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buNone/>
                      </a:pPr>
                      <a:r>
                        <a:rPr lang="en-US" sz="1000" dirty="0">
                          <a:solidFill>
                            <a:srgbClr val="5A6685"/>
                          </a:solidFill>
                          <a:latin typeface="Calibri"/>
                          <a:cs typeface="Calibri"/>
                        </a:rPr>
                        <a:t>A scheduled TASK calls the stored procedure. No server to patch and no share to mount.</a:t>
                      </a: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FF0"/>
                      </a:solidFill>
                      <a:prstDash val="solid"/>
                      <a:round/>
                    </a:lnL>
                    <a:lnR w="6350" cap="flat" cmpd="sng" algn="ctr">
                      <a:solidFill>
                        <a:srgbClr val="D7DFF0"/>
                      </a:solidFill>
                      <a:prstDash val="solid"/>
                      <a:round/>
                    </a:lnR>
                    <a:lnT w="6350" cap="flat" cmpd="sng" algn="ctr">
                      <a:solidFill>
                        <a:srgbClr val="D7DFF0"/>
                      </a:solidFill>
                      <a:prstDash val="solid"/>
                      <a:round/>
                    </a:lnT>
                    <a:lnB w="6350" cap="flat" cmpd="sng" algn="ctr">
                      <a:solidFill>
                        <a:srgbClr val="D7DFF0"/>
                      </a:solidFill>
                      <a:prstDash val="solid"/>
                      <a:round/>
                    </a:lnB>
                    <a:solidFill>
                      <a:srgbClr val="D7DFF0"/>
                    </a:solidFill>
                  </a:tcPr>
                </a:tc>
              </a:tr>
            </a:tbl>
          </a:graphicData>
        </a:graphic>
      </p:graphicFrame>
      <p:sp>
        <p:nvSpPr>
          <p:cNvPr id="98" name="Note"/>
          <p:cNvSpPr txBox="1"/>
          <p:nvPr/>
        </p:nvSpPr>
        <p:spPr>
          <a:xfrm>
            <a:off x="502920" y="3700000"/>
            <a:ext cx="8138160" cy="6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50" b="1" dirty="0">
                <a:solidFill>
                  <a:srgbClr val="232A4D"/>
                </a:solidFill>
                <a:latin typeface="Calibri"/>
                <a:cs typeface="Calibri"/>
              </a:rPr>
              <a:t>Built to be scheduled.  </a:t>
            </a:r>
            <a:r>
              <a:rPr lang="en-US" sz="1150" dirty="0">
                <a:solidFill>
                  <a:srgbClr val="5A6685"/>
                </a:solidFill>
                <a:latin typeface="Calibri"/>
                <a:cs typeface="Calibri"/>
              </a:rPr>
              <a:t>No cgs_ai function ever prompts — a prompt would hang an unattended run forever. Every function validates its parameters first, logs to stderr, and exits with a code a scheduler can branch 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Bar"/>
          <p:cNvSpPr/>
          <p:nvPr/>
        </p:nvSpPr>
        <p:spPr>
          <a:xfrm>
            <a:off x="0" y="128016"/>
            <a:ext cx="2194560" cy="3657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yebrow"/>
          <p:cNvSpPr txBox="1"/>
          <p:nvPr/>
        </p:nvSpPr>
        <p:spPr>
          <a:xfrm>
            <a:off x="502920" y="181051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100" b="1" dirty="0">
                <a:solidFill>
                  <a:srgbClr val="5A6685"/>
                </a:solidFill>
                <a:latin typeface="Calibri"/>
                <a:cs typeface="Calibri"/>
              </a:rPr>
              <a:t>CONCLUSIONS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02920" y="400507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dirty="0">
                <a:solidFill>
                  <a:srgbClr val="232A4D"/>
                </a:solidFill>
                <a:latin typeface="Calibri"/>
                <a:cs typeface="Calibri"/>
              </a:rPr>
              <a:t>The Foundation for AI Pipelines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02920" y="1004011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dirty="0">
                <a:solidFill>
                  <a:srgbClr val="5A6685"/>
                </a:solidFill>
                <a:latin typeface="Calibri"/>
                <a:cs typeface="Calibri"/>
              </a:rPr>
              <a:t>Where this leaves us, and what it makes possible next.</a:t>
            </a:r>
          </a:p>
        </p:txBody>
      </p:sp>
      <p:sp>
        <p:nvSpPr>
          <p:cNvPr id="7" name="FooterRule"/>
          <p:cNvSpPr/>
          <p:nvPr/>
        </p:nvSpPr>
        <p:spPr>
          <a:xfrm>
            <a:off x="502920" y="4828032"/>
            <a:ext cx="8138160" cy="10973"/>
          </a:xfrm>
          <a:prstGeom prst="rect">
            <a:avLst/>
          </a:prstGeom>
          <a:solidFill>
            <a:srgbClr val="D7DF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Left"/>
          <p:cNvSpPr txBox="1"/>
          <p:nvPr/>
        </p:nvSpPr>
        <p:spPr>
          <a:xfrm>
            <a:off x="502920" y="4855464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cgs_ai · From GUI to Code</a:t>
            </a:r>
          </a:p>
        </p:txBody>
      </p:sp>
      <p:sp>
        <p:nvSpPr>
          <p:cNvPr id="9" name="FooterCenter"/>
          <p:cNvSpPr txBox="1"/>
          <p:nvPr/>
        </p:nvSpPr>
        <p:spPr>
          <a:xfrm>
            <a:off x="4572000" y="485546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dirty="0">
                <a:solidFill>
                  <a:srgbClr val="5A6685"/>
                </a:solidFill>
                <a:latin typeface="Calibri"/>
                <a:cs typeface="Calibri"/>
              </a:rPr>
              <a:t>Prepared by Manuel Figallo</a:t>
            </a:r>
          </a:p>
        </p:txBody>
      </p:sp>
      <p:sp>
        <p:nvSpPr>
          <p:cNvPr id="10" name="PageNo"/>
          <p:cNvSpPr txBox="1"/>
          <p:nvPr/>
        </p:nvSpPr>
        <p:spPr>
          <a:xfrm>
            <a:off x="7498080" y="485546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en-US" sz="900" b="1" dirty="0">
                <a:solidFill>
                  <a:srgbClr val="1E2761"/>
                </a:solidFill>
                <a:latin typeface="Calibri"/>
                <a:cs typeface="Calibri"/>
              </a:rPr>
              <a:t>14 / 14</a:t>
            </a:r>
          </a:p>
        </p:txBody>
      </p:sp>
      <p:sp>
        <p:nvSpPr>
          <p:cNvPr id="11" name="Bullets"/>
          <p:cNvSpPr txBox="1"/>
          <p:nvPr/>
        </p:nvSpPr>
        <p:spPr>
          <a:xfrm>
            <a:off x="502920" y="1460000"/>
            <a:ext cx="8138160" cy="2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0000" indent="-180000" algn="l">
              <a:spcBef>
                <a:spcPts val="0"/>
              </a:spcBef>
              <a:buChar char="▪"/>
            </a:pPr>
            <a:r>
              <a:rPr lang="en-US" sz="1200" b="1" dirty="0">
                <a:solidFill>
                  <a:srgbClr val="232A4D"/>
                </a:solidFill>
                <a:latin typeface="Calibri"/>
                <a:cs typeface="Calibri"/>
              </a:rPr>
              <a:t>cgs_ai sets the foundation for AI pipelines.  </a:t>
            </a:r>
            <a:r>
              <a:rPr lang="en-US" sz="1200" dirty="0">
                <a:solidFill>
                  <a:srgbClr val="5A6685"/>
                </a:solidFill>
                <a:latin typeface="Calibri"/>
                <a:cs typeface="Calibri"/>
              </a:rPr>
              <a:t>Reliable, repeatable data movement is the prerequisite for any AI work. Scanning, extraction, formatting and alerting are that foundation.</a:t>
            </a:r>
          </a:p>
          <a:p>
            <a:pPr marL="180000" indent="-180000" algn="l">
              <a:spcBef>
                <a:spcPts val="1000"/>
              </a:spcBef>
              <a:buChar char="▪"/>
            </a:pPr>
            <a:r>
              <a:rPr lang="en-US" sz="1200" b="1" dirty="0">
                <a:solidFill>
                  <a:srgbClr val="232A4D"/>
                </a:solidFill>
                <a:latin typeface="Calibri"/>
                <a:cs typeface="Calibri"/>
              </a:rPr>
              <a:t>A single AI-ready claims-analysis toolkit.  </a:t>
            </a:r>
            <a:r>
              <a:rPr lang="en-US" sz="1200" dirty="0">
                <a:solidFill>
                  <a:srgbClr val="5A6685"/>
                </a:solidFill>
                <a:latin typeface="Calibri"/>
                <a:cs typeface="Calibri"/>
              </a:rPr>
              <a:t>An analyst calls it from a SAS session, a scheduler calls it from a batch file, and an engineer imports it into Python — with identical function names, identical parameter names and identical output.</a:t>
            </a:r>
          </a:p>
          <a:p>
            <a:pPr marL="180000" indent="-180000" algn="l">
              <a:spcBef>
                <a:spcPts val="1000"/>
              </a:spcBef>
              <a:buChar char="▪"/>
            </a:pPr>
            <a:r>
              <a:rPr lang="en-US" sz="1200" b="1" dirty="0">
                <a:solidFill>
                  <a:srgbClr val="232A4D"/>
                </a:solidFill>
                <a:latin typeface="Calibri"/>
                <a:cs typeface="Calibri"/>
              </a:rPr>
              <a:t>The path from GUI to code is now incremental.  </a:t>
            </a:r>
            <a:r>
              <a:rPr lang="en-US" sz="1200" dirty="0">
                <a:solidFill>
                  <a:srgbClr val="5A6685"/>
                </a:solidFill>
                <a:latin typeface="Calibri"/>
                <a:cs typeface="Calibri"/>
              </a:rPr>
              <a:t>Nobody has to leap. Start in Enterprise Guide, move to VS Code, promote to the server, and land in Snowflake — the same call at every step.</a:t>
            </a:r>
          </a:p>
        </p:txBody>
      </p:sp>
      <p:sp>
        <p:nvSpPr>
          <p:cNvPr id="200" name="CalloutBg"/>
          <p:cNvSpPr/>
          <p:nvPr/>
        </p:nvSpPr>
        <p:spPr>
          <a:xfrm>
            <a:off x="502920" y="3760000"/>
            <a:ext cx="8138160" cy="70000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Callout"/>
          <p:cNvSpPr txBox="1"/>
          <p:nvPr/>
        </p:nvSpPr>
        <p:spPr>
          <a:xfrm>
            <a:off x="685800" y="3900000"/>
            <a:ext cx="7772400" cy="4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50" b="1" dirty="0">
                <a:solidFill>
                  <a:srgbClr val="1E2761"/>
                </a:solidFill>
                <a:latin typeface="Calibri"/>
                <a:cs typeface="Calibri"/>
              </a:rPr>
              <a:t>Next step:  </a:t>
            </a:r>
            <a:r>
              <a:rPr lang="en-US" sz="1250" dirty="0">
                <a:solidFill>
                  <a:srgbClr val="232A4D"/>
                </a:solidFill>
                <a:latin typeface="Calibri"/>
                <a:cs typeface="Calibri"/>
              </a:rPr>
              <a:t>pick one manual routine you run every week and schedule it. That single move buys performance, reliability, security and your time 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</TotalTime>
  <Words>487</Words>
  <Application>Microsoft Office PowerPoint</Application>
  <PresentationFormat>On-screen Show (16:9)</PresentationFormat>
  <Paragraphs>91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Calibri</vt:lpstr>
      <vt:lpstr>Cambria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Manuel Figallo</dc:creator>
  <cp:lastModifiedBy>Manuel Figallo</cp:lastModifiedBy>
  <cp:revision>94</cp:revision>
  <dcterms:modified xsi:type="dcterms:W3CDTF">2026-08-27T01:10:22Z</dcterms:modified>
</cp:coreProperties>
</file>