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2">
  <p:sldMasterIdLst>
    <p:sldMasterId id="2147483649" r:id="rId1"/>
    <p:sldMasterId id="2147483650" r:id="rId2"/>
  </p:sldMasterIdLst>
  <p:notesMasterIdLst>
    <p:notesMasterId r:id="rId9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F62E6B-F0BC-4D62-B69F-4A93FCC8B00E}">
  <a:tblStyle styleId="{B6F62E6B-F0BC-4D62-B69F-4A93FCC8B0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6247" autoAdjust="0"/>
  </p:normalViewPr>
  <p:slideViewPr>
    <p:cSldViewPr snapToGrid="0">
      <p:cViewPr varScale="1">
        <p:scale>
          <a:sx n="108" d="100"/>
          <a:sy n="108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19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0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igCircle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2A36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mallCircle"/>
          <p:cNvSpPr/>
          <p:nvPr/>
        </p:nvSpPr>
        <p:spPr>
          <a:xfrm>
            <a:off x="7772400" y="457200"/>
            <a:ext cx="822960" cy="8229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CornerCircle"/>
          <p:cNvSpPr/>
          <p:nvPr/>
        </p:nvSpPr>
        <p:spPr>
          <a:xfrm>
            <a:off x="-457200" y="3429000"/>
            <a:ext cx="1828800" cy="1828800"/>
          </a:xfrm>
          <a:prstGeom prst="ellipse">
            <a:avLst/>
          </a:prstGeom>
          <a:solidFill>
            <a:srgbClr val="2A36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"/>
          <p:cNvSpPr txBox="1"/>
          <p:nvPr/>
        </p:nvSpPr>
        <p:spPr>
          <a:xfrm>
            <a:off x="640080" y="1005840"/>
            <a:ext cx="6096000" cy="1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400" b="1" dirty="0">
                <a:solidFill>
                  <a:srgbClr val="FFFFFF"/>
                </a:solidFill>
                <a:latin typeface="Calibri"/>
                <a:cs typeface="Calibri"/>
              </a:rPr>
              <a:t>CGS_AI Cortex Pipeline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640080" y="2377440"/>
            <a:ext cx="6858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dirty="0">
                <a:solidFill>
                  <a:srgbClr val="CADCFC"/>
                </a:solidFill>
                <a:latin typeface="Calibri"/>
                <a:cs typeface="Calibri"/>
              </a:rPr>
              <a:t>Analyzing CMS regulations Comments at scale.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640080" y="3931920"/>
            <a:ext cx="6858000" cy="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dirty="0">
                <a:solidFill>
                  <a:srgbClr val="CADCFC"/>
                </a:solidFill>
                <a:latin typeface="Calibri"/>
                <a:cs typeface="Calibri"/>
              </a:rPr>
              <a:t>Docket CMS-2022-0190  ·  built on Snowflake Cortex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100" dirty="0">
                <a:solidFill>
                  <a:srgbClr val="CADCFC"/>
                </a:solidFill>
                <a:latin typeface="Calibri"/>
                <a:cs typeface="Calibri"/>
              </a:rPr>
              <a:t>Prepared by Manuel Figallo  ·  cgs_ai v1.0beta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A NEW USE CASE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898 Comments, One Docket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Docket CMS-2022-0190 closed with 898 Comments on prior authorization and interoperability.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Cortex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CMS-2022-0190 Comments Analysis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2 / 12</a:t>
            </a:r>
          </a:p>
        </p:txBody>
      </p:sp>
      <p:sp>
        <p:nvSpPr>
          <p:cNvPr id="11" name="Card0"/>
          <p:cNvSpPr/>
          <p:nvPr/>
        </p:nvSpPr>
        <p:spPr>
          <a:xfrm>
            <a:off x="502920" y="1430000"/>
            <a:ext cx="2606040" cy="15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Bar0"/>
          <p:cNvSpPr/>
          <p:nvPr/>
        </p:nvSpPr>
        <p:spPr>
          <a:xfrm>
            <a:off x="50292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Num0"/>
          <p:cNvSpPr/>
          <p:nvPr/>
        </p:nvSpPr>
        <p:spPr>
          <a:xfrm>
            <a:off x="64008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T0"/>
          <p:cNvSpPr txBox="1"/>
          <p:nvPr/>
        </p:nvSpPr>
        <p:spPr>
          <a:xfrm>
            <a:off x="64008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CardTitle0"/>
          <p:cNvSpPr txBox="1"/>
          <p:nvPr/>
        </p:nvSpPr>
        <p:spPr>
          <a:xfrm>
            <a:off x="64008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The volume is the problem</a:t>
            </a:r>
          </a:p>
        </p:txBody>
      </p:sp>
      <p:sp>
        <p:nvSpPr>
          <p:cNvPr id="16" name="CardBody0"/>
          <p:cNvSpPr txBox="1"/>
          <p:nvPr/>
        </p:nvSpPr>
        <p:spPr>
          <a:xfrm>
            <a:off x="640080" y="2344400"/>
            <a:ext cx="2331720" cy="5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898 Comments, 666 of them substantive. Reading and coding them by hand is weeks of analyst time.</a:t>
            </a:r>
          </a:p>
        </p:txBody>
      </p:sp>
      <p:sp>
        <p:nvSpPr>
          <p:cNvPr id="17" name="Card1"/>
          <p:cNvSpPr/>
          <p:nvPr/>
        </p:nvSpPr>
        <p:spPr>
          <a:xfrm>
            <a:off x="3268980" y="1430000"/>
            <a:ext cx="2606040" cy="15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Bar1"/>
          <p:cNvSpPr/>
          <p:nvPr/>
        </p:nvSpPr>
        <p:spPr>
          <a:xfrm>
            <a:off x="326898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Num1"/>
          <p:cNvSpPr/>
          <p:nvPr/>
        </p:nvSpPr>
        <p:spPr>
          <a:xfrm>
            <a:off x="340614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NumT1"/>
          <p:cNvSpPr txBox="1"/>
          <p:nvPr/>
        </p:nvSpPr>
        <p:spPr>
          <a:xfrm>
            <a:off x="340614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CardTitle1"/>
          <p:cNvSpPr txBox="1"/>
          <p:nvPr/>
        </p:nvSpPr>
        <p:spPr>
          <a:xfrm>
            <a:off x="340614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The questions are always the same</a:t>
            </a:r>
          </a:p>
        </p:txBody>
      </p:sp>
      <p:sp>
        <p:nvSpPr>
          <p:cNvPr id="22" name="CardBody1"/>
          <p:cNvSpPr txBox="1"/>
          <p:nvPr/>
        </p:nvSpPr>
        <p:spPr>
          <a:xfrm>
            <a:off x="3406140" y="2344400"/>
            <a:ext cx="2331720" cy="5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What is the sentiment? Which policy domains do they touch? What would we tell leadership?</a:t>
            </a:r>
          </a:p>
        </p:txBody>
      </p:sp>
      <p:sp>
        <p:nvSpPr>
          <p:cNvPr id="23" name="Card2"/>
          <p:cNvSpPr/>
          <p:nvPr/>
        </p:nvSpPr>
        <p:spPr>
          <a:xfrm>
            <a:off x="6035040" y="1430000"/>
            <a:ext cx="2606040" cy="15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Bar2"/>
          <p:cNvSpPr/>
          <p:nvPr/>
        </p:nvSpPr>
        <p:spPr>
          <a:xfrm>
            <a:off x="603504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Num2"/>
          <p:cNvSpPr/>
          <p:nvPr/>
        </p:nvSpPr>
        <p:spPr>
          <a:xfrm>
            <a:off x="617220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NumT2"/>
          <p:cNvSpPr txBox="1"/>
          <p:nvPr/>
        </p:nvSpPr>
        <p:spPr>
          <a:xfrm>
            <a:off x="617220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CardTitle2"/>
          <p:cNvSpPr txBox="1"/>
          <p:nvPr/>
        </p:nvSpPr>
        <p:spPr>
          <a:xfrm>
            <a:off x="617220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The answer should be repeatable</a:t>
            </a:r>
          </a:p>
        </p:txBody>
      </p:sp>
      <p:sp>
        <p:nvSpPr>
          <p:cNvPr id="28" name="CardBody2"/>
          <p:cNvSpPr txBox="1"/>
          <p:nvPr/>
        </p:nvSpPr>
        <p:spPr>
          <a:xfrm>
            <a:off x="6172200" y="2344400"/>
            <a:ext cx="2331720" cy="5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The next docket needs the same analysis. That makes it a pipeline, not a project.</a:t>
            </a:r>
          </a:p>
        </p:txBody>
      </p:sp>
      <p:sp>
        <p:nvSpPr>
          <p:cNvPr id="51" name="Note"/>
          <p:cNvSpPr txBox="1"/>
          <p:nvPr/>
        </p:nvSpPr>
        <p:spPr>
          <a:xfrm>
            <a:off x="502920" y="322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So we built one.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cgs_ai turns a docket of Comments into a sentiment-scored, categorized data set and an executive briefing.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HIGH-LEVEL WORKFLOW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Regulations.gov  →  Cortex NLP  →  Briefing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Three stages. The Comments never leave Snowflake once they land.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Cortex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CMS-2022-0190 Comments Analysis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3 / 12</a:t>
            </a:r>
          </a:p>
        </p:txBody>
      </p:sp>
      <p:sp>
        <p:nvSpPr>
          <p:cNvPr id="11" name="Step0"/>
          <p:cNvSpPr/>
          <p:nvPr/>
        </p:nvSpPr>
        <p:spPr>
          <a:xfrm>
            <a:off x="502920" y="1420000"/>
            <a:ext cx="300000" cy="30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T0"/>
          <p:cNvSpPr txBox="1"/>
          <p:nvPr/>
        </p:nvSpPr>
        <p:spPr>
          <a:xfrm>
            <a:off x="502920" y="1478000"/>
            <a:ext cx="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3" name="StepL0"/>
          <p:cNvSpPr txBox="1"/>
          <p:nvPr/>
        </p:nvSpPr>
        <p:spPr>
          <a:xfrm>
            <a:off x="882920" y="1455000"/>
            <a:ext cx="205272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REGULATIONS.GOV</a:t>
            </a:r>
          </a:p>
        </p:txBody>
      </p:sp>
      <p:sp>
        <p:nvSpPr>
          <p:cNvPr id="14" name="Frame14"/>
          <p:cNvSpPr/>
          <p:nvPr/>
        </p:nvSpPr>
        <p:spPr>
          <a:xfrm>
            <a:off x="502920" y="1880000"/>
            <a:ext cx="2432720" cy="17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FrameT14"/>
          <p:cNvSpPr txBox="1"/>
          <p:nvPr/>
        </p:nvSpPr>
        <p:spPr>
          <a:xfrm>
            <a:off x="602920" y="2480000"/>
            <a:ext cx="223272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drop in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lang="en-US" sz="800" dirty="0">
                <a:solidFill>
                  <a:srgbClr val="232A4D"/>
                </a:solidFill>
                <a:latin typeface="Consolas"/>
                <a:cs typeface="Consolas"/>
              </a:rPr>
              <a:t>regulations_docket.png</a:t>
            </a:r>
          </a:p>
        </p:txBody>
      </p:sp>
      <p:sp>
        <p:nvSpPr>
          <p:cNvPr id="16" name="Arrow 16"/>
          <p:cNvSpPr/>
          <p:nvPr/>
        </p:nvSpPr>
        <p:spPr>
          <a:xfrm>
            <a:off x="3025640" y="2620000"/>
            <a:ext cx="240000" cy="22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Step1"/>
          <p:cNvSpPr/>
          <p:nvPr/>
        </p:nvSpPr>
        <p:spPr>
          <a:xfrm>
            <a:off x="3355640" y="1420000"/>
            <a:ext cx="300000" cy="30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StepT1"/>
          <p:cNvSpPr txBox="1"/>
          <p:nvPr/>
        </p:nvSpPr>
        <p:spPr>
          <a:xfrm>
            <a:off x="3355640" y="1478000"/>
            <a:ext cx="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9" name="StepL1"/>
          <p:cNvSpPr txBox="1"/>
          <p:nvPr/>
        </p:nvSpPr>
        <p:spPr>
          <a:xfrm>
            <a:off x="3735640" y="1455000"/>
            <a:ext cx="205272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CORTEX NLP</a:t>
            </a:r>
          </a:p>
        </p:txBody>
      </p:sp>
      <p:sp>
        <p:nvSpPr>
          <p:cNvPr id="20" name="Frame20"/>
          <p:cNvSpPr/>
          <p:nvPr/>
        </p:nvSpPr>
        <p:spPr>
          <a:xfrm>
            <a:off x="3355640" y="1880000"/>
            <a:ext cx="2432720" cy="17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ameT20"/>
          <p:cNvSpPr txBox="1"/>
          <p:nvPr/>
        </p:nvSpPr>
        <p:spPr>
          <a:xfrm>
            <a:off x="3455640" y="2480000"/>
            <a:ext cx="223272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drop in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lang="en-US" sz="800" dirty="0">
                <a:solidFill>
                  <a:srgbClr val="232A4D"/>
                </a:solidFill>
                <a:latin typeface="Consolas"/>
                <a:cs typeface="Consolas"/>
              </a:rPr>
              <a:t>snowflake_cortex_CMS_Regulations_analytics.png</a:t>
            </a:r>
          </a:p>
        </p:txBody>
      </p:sp>
      <p:sp>
        <p:nvSpPr>
          <p:cNvPr id="22" name="Arrow 22"/>
          <p:cNvSpPr/>
          <p:nvPr/>
        </p:nvSpPr>
        <p:spPr>
          <a:xfrm>
            <a:off x="5878360" y="2620000"/>
            <a:ext cx="240000" cy="22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Step2"/>
          <p:cNvSpPr/>
          <p:nvPr/>
        </p:nvSpPr>
        <p:spPr>
          <a:xfrm>
            <a:off x="6208360" y="1420000"/>
            <a:ext cx="300000" cy="30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T2"/>
          <p:cNvSpPr txBox="1"/>
          <p:nvPr/>
        </p:nvSpPr>
        <p:spPr>
          <a:xfrm>
            <a:off x="6208360" y="1478000"/>
            <a:ext cx="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5" name="StepL2"/>
          <p:cNvSpPr txBox="1"/>
          <p:nvPr/>
        </p:nvSpPr>
        <p:spPr>
          <a:xfrm>
            <a:off x="6588360" y="1455000"/>
            <a:ext cx="205272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EXECUTIVE BRIEFING</a:t>
            </a:r>
          </a:p>
        </p:txBody>
      </p:sp>
      <p:sp>
        <p:nvSpPr>
          <p:cNvPr id="26" name="Frame26"/>
          <p:cNvSpPr/>
          <p:nvPr/>
        </p:nvSpPr>
        <p:spPr>
          <a:xfrm>
            <a:off x="6208360" y="1880000"/>
            <a:ext cx="2432720" cy="17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FrameT26"/>
          <p:cNvSpPr txBox="1"/>
          <p:nvPr/>
        </p:nvSpPr>
        <p:spPr>
          <a:xfrm>
            <a:off x="6308360" y="2480000"/>
            <a:ext cx="223272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drop in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lang="en-US" sz="800" dirty="0">
                <a:solidFill>
                  <a:srgbClr val="232A4D"/>
                </a:solidFill>
                <a:latin typeface="Consolas"/>
                <a:cs typeface="Consolas"/>
              </a:rPr>
              <a:t>Executive_Briefing_OUTPUT1.png</a:t>
            </a:r>
          </a:p>
        </p:txBody>
      </p:sp>
      <p:sp>
        <p:nvSpPr>
          <p:cNvPr id="28" name="Cap0"/>
          <p:cNvSpPr txBox="1"/>
          <p:nvPr/>
        </p:nvSpPr>
        <p:spPr>
          <a:xfrm>
            <a:off x="502920" y="3660000"/>
            <a:ext cx="243272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The docket and its Comments, downloaded as CSV.</a:t>
            </a:r>
          </a:p>
        </p:txBody>
      </p:sp>
      <p:sp>
        <p:nvSpPr>
          <p:cNvPr id="29" name="Cap1"/>
          <p:cNvSpPr txBox="1"/>
          <p:nvPr/>
        </p:nvSpPr>
        <p:spPr>
          <a:xfrm>
            <a:off x="3355640" y="3660000"/>
            <a:ext cx="243272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cgs_ai running in a Snowflake notebook, next to the data.</a:t>
            </a:r>
          </a:p>
        </p:txBody>
      </p:sp>
      <p:sp>
        <p:nvSpPr>
          <p:cNvPr id="30" name="Cap2"/>
          <p:cNvSpPr txBox="1"/>
          <p:nvPr/>
        </p:nvSpPr>
        <p:spPr>
          <a:xfrm>
            <a:off x="6208360" y="3660000"/>
            <a:ext cx="243272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A formatted memo with sentiment, categories and a narrative.</a:t>
            </a:r>
          </a:p>
        </p:txBody>
      </p:sp>
      <p:sp>
        <p:nvSpPr>
          <p:cNvPr id="31" name="Note"/>
          <p:cNvSpPr txBox="1"/>
          <p:nvPr/>
        </p:nvSpPr>
        <p:spPr>
          <a:xfrm>
            <a:off x="502920" y="427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One direction, no round trips.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Source to briefing without moving the data to a laptop.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WHERE IT RUNS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NLP That Runs Next to the Data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cgs_ai imports into a Snowflake notebook, so the analysis happens inside Cortex.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Cortex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CMS-2022-0190 Comments Analysis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4 / 12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30000"/>
            <a:ext cx="8138160" cy="9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67160"/>
            <a:ext cx="7863840" cy="62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Snowflake notebook cell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%run cgs_ai_setup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import cgs_ai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print('cgs_ai imported from:', cgs_ai.__file__)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502920" y="2500000"/>
            <a:ext cx="8138160" cy="16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0000" indent="-180000" algn="l">
              <a:spcBef>
                <a:spcPts val="0"/>
              </a:spcBef>
              <a:buChar char="▪"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Elastic compute.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summarizeText calls Cortex Summarize() across 10 parallel workers; the warehouse scales, your laptop does not have to.</a:t>
            </a:r>
          </a:p>
          <a:p>
            <a:pPr marL="180000" indent="-180000" algn="l">
              <a:spcBef>
                <a:spcPts val="450"/>
              </a:spcBef>
              <a:buChar char="▪"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No data movement.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The Comments stay in Snowflake. Nothing is downloaded to a share or a desktop to be analyzed.</a:t>
            </a:r>
          </a:p>
          <a:p>
            <a:pPr marL="180000" indent="-180000" algn="l">
              <a:spcBef>
                <a:spcPts val="450"/>
              </a:spcBef>
              <a:buChar char="▪"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No external packages to install.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Every function uses pre-installed or standard-library dependencies — no PyPI access required.</a:t>
            </a:r>
          </a:p>
          <a:p>
            <a:pPr marL="180000" indent="-180000" algn="l">
              <a:spcBef>
                <a:spcPts val="450"/>
              </a:spcBef>
              <a:buChar char="▪"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Platform-guarded.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The analytical functions check they are on Linux / Snowflake before they run, so they fail clearly rather than oddly.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WHAT CGS_AI IS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A Collection of Functions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Import the one you need, pass parameters, get a predictable result back.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Cortex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CMS-2022-0190 Comments Analysis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5 / 12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30000"/>
            <a:ext cx="8138160" cy="17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67160"/>
            <a:ext cx="7863840" cy="142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from cgs_ai import formatCSV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result = formatCSV(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InputCsvPath='data/output/cms_2022_0190_SENT_SUMMARIZE_CAT_v1.csv',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OutputExcelPath='data/output/report_corporate.xlsx',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FormatType='corporate',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SheetName='CMS Comments',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Title='CMS-2022-0190 Comments Analysis')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print(result)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502920" y="3300000"/>
            <a:ext cx="8138160" cy="1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0000" indent="-180000" algn="l">
              <a:spcBef>
                <a:spcPts val="0"/>
              </a:spcBef>
              <a:buChar char="▪"/>
            </a:pPr>
            <a:r>
              <a:rPr lang="en-US" sz="1100" b="1" dirty="0">
                <a:solidFill>
                  <a:srgbClr val="232A4D"/>
                </a:solidFill>
                <a:latin typeface="Calibri"/>
                <a:cs typeface="Calibri"/>
              </a:rPr>
              <a:t>What it does.  </a:t>
            </a:r>
            <a:r>
              <a:rPr lang="en-US" sz="1100" dirty="0">
                <a:solidFill>
                  <a:srgbClr val="5A6685"/>
                </a:solidFill>
                <a:latin typeface="Calibri"/>
                <a:cs typeface="Calibri"/>
              </a:rPr>
              <a:t>Reads the enriched Comments CSV and writes a styled .xlsx — FormatType='corporate' gives a navy banner, blue header, zebra stripes and a frozen, auto-filtered header row.</a:t>
            </a:r>
          </a:p>
          <a:p>
            <a:pPr marL="180000" indent="-180000" algn="l">
              <a:spcBef>
                <a:spcPts val="450"/>
              </a:spcBef>
              <a:buChar char="▪"/>
            </a:pPr>
            <a:r>
              <a:rPr lang="en-US" sz="1100" b="1" dirty="0">
                <a:solidFill>
                  <a:srgbClr val="232A4D"/>
                </a:solidFill>
                <a:latin typeface="Calibri"/>
                <a:cs typeface="Calibri"/>
              </a:rPr>
              <a:t>What it returns.  </a:t>
            </a:r>
            <a:r>
              <a:rPr lang="en-US" sz="1100" dirty="0">
                <a:solidFill>
                  <a:srgbClr val="5A6685"/>
                </a:solidFill>
                <a:latin typeface="Calibri"/>
                <a:cs typeface="Calibri"/>
              </a:rPr>
              <a:t>A dict — OutputExcelPath, RowCount, ColumnCount, FormatType — so the next step can check the result instead of guessing.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HOW IT RUNS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The AI-Powered Processing Workflow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Two pipelines: analysis enriches the Comments, output turns them into deliverables.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Cortex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CMS-2022-0190 Comments Analysis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6 / 12</a:t>
            </a:r>
          </a:p>
        </p:txBody>
      </p:sp>
      <p:sp>
        <p:nvSpPr>
          <p:cNvPr id="11" name="AnalysisLabel"/>
          <p:cNvSpPr txBox="1"/>
          <p:nvPr/>
        </p:nvSpPr>
        <p:spPr>
          <a:xfrm>
            <a:off x="502920" y="1300000"/>
            <a:ext cx="51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5A6685"/>
                </a:solidFill>
                <a:latin typeface="Calibri"/>
                <a:cs typeface="Calibri"/>
              </a:rPr>
              <a:t>ANALYSIS PIPELINE</a:t>
            </a:r>
          </a:p>
        </p:txBody>
      </p:sp>
      <p:sp>
        <p:nvSpPr>
          <p:cNvPr id="12" name="OutputLabel"/>
          <p:cNvSpPr txBox="1"/>
          <p:nvPr/>
        </p:nvSpPr>
        <p:spPr>
          <a:xfrm>
            <a:off x="6022920" y="1300000"/>
            <a:ext cx="2618160" cy="2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5A6685"/>
                </a:solidFill>
                <a:latin typeface="Calibri"/>
                <a:cs typeface="Calibri"/>
              </a:rPr>
              <a:t>OUTPUT PIPELINE</a:t>
            </a:r>
          </a:p>
        </p:txBody>
      </p:sp>
      <p:sp>
        <p:nvSpPr>
          <p:cNvPr id="13" name="Panel 13"/>
          <p:cNvSpPr/>
          <p:nvPr/>
        </p:nvSpPr>
        <p:spPr>
          <a:xfrm>
            <a:off x="502920" y="1560000"/>
            <a:ext cx="5180000" cy="228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nel 14"/>
          <p:cNvSpPr/>
          <p:nvPr/>
        </p:nvSpPr>
        <p:spPr>
          <a:xfrm>
            <a:off x="6022920" y="1560000"/>
            <a:ext cx="2618160" cy="228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anel 21"/>
          <p:cNvSpPr/>
          <p:nvPr/>
        </p:nvSpPr>
        <p:spPr>
          <a:xfrm>
            <a:off x="652920" y="1710000"/>
            <a:ext cx="1750000" cy="1980000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Num21"/>
          <p:cNvSpPr/>
          <p:nvPr/>
        </p:nvSpPr>
        <p:spPr>
          <a:xfrm>
            <a:off x="790080" y="1847160"/>
            <a:ext cx="300000" cy="3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NumT21"/>
          <p:cNvSpPr txBox="1"/>
          <p:nvPr/>
        </p:nvSpPr>
        <p:spPr>
          <a:xfrm>
            <a:off x="790080" y="1905000"/>
            <a:ext cx="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050" b="1" dirty="0">
                <a:solidFill>
                  <a:srgbClr val="2E7D4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4" name="Title21"/>
          <p:cNvSpPr txBox="1"/>
          <p:nvPr/>
        </p:nvSpPr>
        <p:spPr>
          <a:xfrm>
            <a:off x="790080" y="2240000"/>
            <a:ext cx="14756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Load CSV</a:t>
            </a:r>
          </a:p>
        </p:txBody>
      </p:sp>
      <p:sp>
        <p:nvSpPr>
          <p:cNvPr id="25" name="Body21"/>
          <p:cNvSpPr txBox="1"/>
          <p:nvPr/>
        </p:nvSpPr>
        <p:spPr>
          <a:xfrm>
            <a:off x="790080" y="2590000"/>
            <a:ext cx="1475680" cy="10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Calibri"/>
                <a:cs typeface="Calibri"/>
              </a:rPr>
              <a:t>Read the docket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Calibri"/>
                <a:cs typeface="Calibri"/>
              </a:rPr>
              <a:t>Comments into a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Calibri"/>
                <a:cs typeface="Calibri"/>
              </a:rPr>
              <a:t>DataFrame.</a:t>
            </a:r>
          </a:p>
        </p:txBody>
      </p:sp>
      <p:sp>
        <p:nvSpPr>
          <p:cNvPr id="31" name="Arrow 31"/>
          <p:cNvSpPr/>
          <p:nvPr/>
        </p:nvSpPr>
        <p:spPr>
          <a:xfrm>
            <a:off x="2462920" y="2590000"/>
            <a:ext cx="200000" cy="22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Panel 32"/>
          <p:cNvSpPr/>
          <p:nvPr/>
        </p:nvSpPr>
        <p:spPr>
          <a:xfrm>
            <a:off x="2722920" y="1710000"/>
            <a:ext cx="2810000" cy="198000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Num32"/>
          <p:cNvSpPr/>
          <p:nvPr/>
        </p:nvSpPr>
        <p:spPr>
          <a:xfrm>
            <a:off x="2860080" y="1847160"/>
            <a:ext cx="300000" cy="3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NumT32"/>
          <p:cNvSpPr txBox="1"/>
          <p:nvPr/>
        </p:nvSpPr>
        <p:spPr>
          <a:xfrm>
            <a:off x="2860080" y="1905000"/>
            <a:ext cx="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050" b="1" dirty="0">
                <a:solidFill>
                  <a:srgbClr val="2E75B6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35" name="Title32"/>
          <p:cNvSpPr txBox="1"/>
          <p:nvPr/>
        </p:nvSpPr>
        <p:spPr>
          <a:xfrm>
            <a:off x="2860080" y="2240000"/>
            <a:ext cx="25356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NLP Processing</a:t>
            </a:r>
          </a:p>
        </p:txBody>
      </p:sp>
      <p:sp>
        <p:nvSpPr>
          <p:cNvPr id="36" name="Body32"/>
          <p:cNvSpPr txBox="1"/>
          <p:nvPr/>
        </p:nvSpPr>
        <p:spPr>
          <a:xfrm>
            <a:off x="2860080" y="2590000"/>
            <a:ext cx="2535680" cy="10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cs typeface="Consolas"/>
              </a:rPr>
              <a:t>doSentimentAnalysis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cs typeface="Consolas"/>
              </a:rPr>
              <a:t>visualizeNLP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cs typeface="Consolas"/>
              </a:rPr>
              <a:t>summarizeText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cs typeface="Consolas"/>
              </a:rPr>
              <a:t>categorizeText</a:t>
            </a:r>
          </a:p>
        </p:txBody>
      </p:sp>
      <p:sp>
        <p:nvSpPr>
          <p:cNvPr id="41" name="Arrow 41"/>
          <p:cNvSpPr/>
          <p:nvPr/>
        </p:nvSpPr>
        <p:spPr>
          <a:xfrm>
            <a:off x="5762920" y="2590000"/>
            <a:ext cx="200000" cy="22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Panel 42"/>
          <p:cNvSpPr/>
          <p:nvPr/>
        </p:nvSpPr>
        <p:spPr>
          <a:xfrm>
            <a:off x="6172920" y="1710000"/>
            <a:ext cx="2318160" cy="1980000"/>
          </a:xfrm>
          <a:prstGeom prst="roundRect">
            <a:avLst>
              <a:gd name="adj" fmla="val 6000"/>
            </a:avLst>
          </a:prstGeom>
          <a:solidFill>
            <a:srgbClr val="9DC3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Num42"/>
          <p:cNvSpPr/>
          <p:nvPr/>
        </p:nvSpPr>
        <p:spPr>
          <a:xfrm>
            <a:off x="6310080" y="1847160"/>
            <a:ext cx="300000" cy="30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NumT42"/>
          <p:cNvSpPr txBox="1"/>
          <p:nvPr/>
        </p:nvSpPr>
        <p:spPr>
          <a:xfrm>
            <a:off x="6310080" y="1905000"/>
            <a:ext cx="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5" name="Title42"/>
          <p:cNvSpPr txBox="1"/>
          <p:nvPr/>
        </p:nvSpPr>
        <p:spPr>
          <a:xfrm>
            <a:off x="6310080" y="2240000"/>
            <a:ext cx="204384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A4D"/>
                </a:solidFill>
                <a:latin typeface="Calibri"/>
                <a:cs typeface="Calibri"/>
              </a:rPr>
              <a:t>Generate Output</a:t>
            </a:r>
          </a:p>
        </p:txBody>
      </p:sp>
      <p:sp>
        <p:nvSpPr>
          <p:cNvPr id="46" name="Body42"/>
          <p:cNvSpPr txBox="1"/>
          <p:nvPr/>
        </p:nvSpPr>
        <p:spPr>
          <a:xfrm>
            <a:off x="6310080" y="2590000"/>
            <a:ext cx="2043840" cy="10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50" dirty="0">
                <a:solidFill>
                  <a:srgbClr val="232A4D"/>
                </a:solidFill>
                <a:latin typeface="Consolas"/>
                <a:cs typeface="Consolas"/>
              </a:rPr>
              <a:t>formatCSV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950" dirty="0">
                <a:solidFill>
                  <a:srgbClr val="232A4D"/>
                </a:solidFill>
                <a:latin typeface="Consolas"/>
                <a:cs typeface="Consolas"/>
              </a:rPr>
              <a:t>createExecutiveBriefing</a:t>
            </a:r>
          </a:p>
        </p:txBody>
      </p:sp>
      <p:sp>
        <p:nvSpPr>
          <p:cNvPr id="51" name="Note"/>
          <p:cNvSpPr txBox="1"/>
          <p:nvPr/>
        </p:nvSpPr>
        <p:spPr>
          <a:xfrm>
            <a:off x="502920" y="398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Analysis enriches, output delivers.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Everything the NLP stage adds — sentiment, summary, category — is what the output stage formats.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THE FUNCTION CATALOG  ·  1 OF 2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NLP and Analysis Functions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Every analytical function is platform-guarded and needs no external package download.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Cortex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CMS-2022-0190 Comments Analysis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7 / 12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02920" y="1430000"/>
          <a:ext cx="8138160" cy="2860000"/>
        </p:xfrm>
        <a:graphic>
          <a:graphicData uri="http://schemas.openxmlformats.org/drawingml/2006/table">
            <a:tbl>
              <a:tblPr firstRow="1"/>
              <a:tblGrid>
                <a:gridCol w="1800000"/>
                <a:gridCol w="2500000"/>
                <a:gridCol w="3838160"/>
              </a:tblGrid>
              <a:tr h="3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Signature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 it does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doSentimentAnalysis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(csv_path, comment_col='COMMENT',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 result_col=None, CREATE_BAR=False)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Classifies each Comment as Positive, Negative or Neutral / Other by keyword intersection. Adds char_count and word_count; optional bar chart.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visualizeNLP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(csv_path, comment_col='COMMENT',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 viz_type='WORD_DIST')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Renders a 1x2 matplotlib figure. WORD_DIST is a word-count histogram, WORD_CLOUD a top-30 frequency chart, BOTH shows them side by side.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summarizeText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(csv_path, comment_col='COMMENT',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 result_col=None)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Calls Snowflake Cortex Summarize() on every row using 10 parallel workers. No temp stage required.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categorizeText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(csv_path, comment_col='COMMENT',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 result_col=None)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Assigns each Comment to a CMS policy domain by keyword scoring — reimbursement, care quality, drug pricing, provider burden, health equity.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THE FUNCTION CATALOG  ·  2 OF 2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Output and Package Functions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deliverables, plus the three greetings that prove the import worked.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Cortex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CMS-2022-0190 Comments Analysis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8 / 12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02920" y="1430000"/>
          <a:ext cx="8138160" cy="2950000"/>
        </p:xfrm>
        <a:graphic>
          <a:graphicData uri="http://schemas.openxmlformats.org/drawingml/2006/table">
            <a:tbl>
              <a:tblPr firstRow="1"/>
              <a:tblGrid>
                <a:gridCol w="1800000"/>
                <a:gridCol w="2500000"/>
                <a:gridCol w="3838160"/>
              </a:tblGrid>
              <a:tr h="3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Signature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 it does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</a:tr>
              <a:tr h="53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formatCSV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(InputCsvPath, OutputExcelPath,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 FormatType='corporate',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 SheetName='Report', Title='')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Converts a CSV to a styled .xlsx — corporate, corporatev2, plain or minimal. Saves via BytesIO to bypass the Snowflake workspace seek limitation.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3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createExecutiveBriefing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(input_csv, text_col='comment',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 secondary_cols=None,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 output_file='...md')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Aggregates sentiment and category stats, calls Cortex Complete for a three-paragraph narrative, and writes a memo as .md, .pdf or .docx.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53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basic_hello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()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Returns "Hello, World!" — the baseline package smoke test.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3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personalized_hello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(name)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Returns a personalized greeting; strips whitespace and falls back to "World" on empty input.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53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detailed_hello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(style='friendly')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Returns a dict with message and style_used. Styles: friendly, formal, pirate.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END TO END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The Whole Pipeline in One Cell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Six calls take the docket from raw CSV to a briefing and a workbook.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Cortex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CMS-2022-0190 Comments Analysis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9 / 12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30000"/>
            <a:ext cx="8138160" cy="27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67160"/>
            <a:ext cx="7863840" cy="247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Snowflake notebook  ·  CMS-2022-0190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from cgs_ai import (doSentimentAnalysis, visualizeNLP, summarizeText,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                categorizeText, formatCSV, createExecutiveBriefing)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/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CSV = 'data/CMS_2022_0190_COMMENTS_v3.csv'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df = doSentimentAnalysis(CSV, comment_col='comment')   # 1  sentiment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visualizeNLP(CSV, viz_type='BOTH')                     # 2  charts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df = summarizeText(CSV, comment_col='comment')         # 3  Cortex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df = categorizeText(CSV, comment_col='comment')        # 4  domains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formatCSV('data/output/enriched.csv',                  # 5  workbook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      'data/output/enriched_corporate.xlsx', FormatType='corporate')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createExecutiveBriefing(                               # 6  briefing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input_csv='data/output/enriched.csv',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secondary_cols=['overall_sentiment', 'COMMENT_CATEGORY'],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output_file='data/output/briefing.md')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502920" y="430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Same names everywhere.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These are the function names in the catalog, called with the parameter names in the catalog.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THE RESULT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What Comes Out the Other End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One run of the docket, from the executive briefing it produced.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Cortex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CMS-2022-0190 Comments Analysis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10 / 12</a:t>
            </a:r>
          </a:p>
        </p:txBody>
      </p:sp>
      <p:sp>
        <p:nvSpPr>
          <p:cNvPr id="11" name="Card0"/>
          <p:cNvSpPr/>
          <p:nvPr/>
        </p:nvSpPr>
        <p:spPr>
          <a:xfrm>
            <a:off x="502920" y="1430000"/>
            <a:ext cx="2606040" cy="16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Bar0"/>
          <p:cNvSpPr/>
          <p:nvPr/>
        </p:nvSpPr>
        <p:spPr>
          <a:xfrm>
            <a:off x="50292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Num0"/>
          <p:cNvSpPr/>
          <p:nvPr/>
        </p:nvSpPr>
        <p:spPr>
          <a:xfrm>
            <a:off x="64008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T0"/>
          <p:cNvSpPr txBox="1"/>
          <p:nvPr/>
        </p:nvSpPr>
        <p:spPr>
          <a:xfrm>
            <a:off x="64008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CardTitle0"/>
          <p:cNvSpPr txBox="1"/>
          <p:nvPr/>
        </p:nvSpPr>
        <p:spPr>
          <a:xfrm>
            <a:off x="64008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898 Comments scored</a:t>
            </a:r>
          </a:p>
        </p:txBody>
      </p:sp>
      <p:sp>
        <p:nvSpPr>
          <p:cNvPr id="16" name="CardBody0"/>
          <p:cNvSpPr txBox="1"/>
          <p:nvPr/>
        </p:nvSpPr>
        <p:spPr>
          <a:xfrm>
            <a:off x="640080" y="2344400"/>
            <a:ext cx="2331720" cy="5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666 substantive entries of more than five words. Every row carries a sentiment, a summary and a CMS policy domain.</a:t>
            </a:r>
          </a:p>
        </p:txBody>
      </p:sp>
      <p:sp>
        <p:nvSpPr>
          <p:cNvPr id="17" name="Card1"/>
          <p:cNvSpPr/>
          <p:nvPr/>
        </p:nvSpPr>
        <p:spPr>
          <a:xfrm>
            <a:off x="3268980" y="1430000"/>
            <a:ext cx="2606040" cy="16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Bar1"/>
          <p:cNvSpPr/>
          <p:nvPr/>
        </p:nvSpPr>
        <p:spPr>
          <a:xfrm>
            <a:off x="326898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Num1"/>
          <p:cNvSpPr/>
          <p:nvPr/>
        </p:nvSpPr>
        <p:spPr>
          <a:xfrm>
            <a:off x="340614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NumT1"/>
          <p:cNvSpPr txBox="1"/>
          <p:nvPr/>
        </p:nvSpPr>
        <p:spPr>
          <a:xfrm>
            <a:off x="340614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CardTitle1"/>
          <p:cNvSpPr txBox="1"/>
          <p:nvPr/>
        </p:nvSpPr>
        <p:spPr>
          <a:xfrm>
            <a:off x="340614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Sentiment distribution</a:t>
            </a:r>
          </a:p>
        </p:txBody>
      </p:sp>
      <p:sp>
        <p:nvSpPr>
          <p:cNvPr id="22" name="CardBody1"/>
          <p:cNvSpPr txBox="1"/>
          <p:nvPr/>
        </p:nvSpPr>
        <p:spPr>
          <a:xfrm>
            <a:off x="3406140" y="2344400"/>
            <a:ext cx="2331720" cy="5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676 Neutral, 186 Positive, 36 Negative — with 49.4% raising provider administrative burden.</a:t>
            </a:r>
          </a:p>
        </p:txBody>
      </p:sp>
      <p:sp>
        <p:nvSpPr>
          <p:cNvPr id="23" name="Card2"/>
          <p:cNvSpPr/>
          <p:nvPr/>
        </p:nvSpPr>
        <p:spPr>
          <a:xfrm>
            <a:off x="6035040" y="1430000"/>
            <a:ext cx="2606040" cy="16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Bar2"/>
          <p:cNvSpPr/>
          <p:nvPr/>
        </p:nvSpPr>
        <p:spPr>
          <a:xfrm>
            <a:off x="603504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Num2"/>
          <p:cNvSpPr/>
          <p:nvPr/>
        </p:nvSpPr>
        <p:spPr>
          <a:xfrm>
            <a:off x="617220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NumT2"/>
          <p:cNvSpPr txBox="1"/>
          <p:nvPr/>
        </p:nvSpPr>
        <p:spPr>
          <a:xfrm>
            <a:off x="617220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CardTitle2"/>
          <p:cNvSpPr txBox="1"/>
          <p:nvPr/>
        </p:nvSpPr>
        <p:spPr>
          <a:xfrm>
            <a:off x="617220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Two deliverables</a:t>
            </a:r>
          </a:p>
        </p:txBody>
      </p:sp>
      <p:sp>
        <p:nvSpPr>
          <p:cNvPr id="28" name="CardBody2"/>
          <p:cNvSpPr txBox="1"/>
          <p:nvPr/>
        </p:nvSpPr>
        <p:spPr>
          <a:xfrm>
            <a:off x="6172200" y="2344400"/>
            <a:ext cx="2331720" cy="5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A corporate-styled workbook for the analysts, and a memo for the steering committee.</a:t>
            </a:r>
          </a:p>
        </p:txBody>
      </p:sp>
      <p:sp>
        <p:nvSpPr>
          <p:cNvPr id="51" name="Note"/>
          <p:cNvSpPr txBox="1"/>
          <p:nvPr/>
        </p:nvSpPr>
        <p:spPr>
          <a:xfrm>
            <a:off x="502920" y="330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The narrative is generated, not written.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createExecutiveBriefing calls Cortex Complete on the aggregated statistics and formats the memo around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WHY IT MATTERS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A Pipeline, Not a One-Off Analysis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docket changes. The code does not.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Cortex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CMS-2022-0190 Comments Analysis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11 / 12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502920" y="1430000"/>
            <a:ext cx="813816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0000" indent="-180000" algn="l">
              <a:spcBef>
                <a:spcPts val="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Point it at the next docket.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Change one CSV path and the same six calls produce the same deliverables for a different rule.</a:t>
            </a:r>
          </a:p>
          <a:p>
            <a:pPr marL="180000" indent="-180000" algn="l">
              <a:spcBef>
                <a:spcPts val="65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The AI work is a function call.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Cortex Summarize and Cortex Complete sit behind summarizeText and createExecutiveBriefing — no prompt engineering at the call site.</a:t>
            </a:r>
          </a:p>
          <a:p>
            <a:pPr marL="180000" indent="-180000" algn="l">
              <a:spcBef>
                <a:spcPts val="65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It is auditable.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Sentiment and categories come from explicit keyword rules you can read, not an opaque score.</a:t>
            </a:r>
          </a:p>
          <a:p>
            <a:pPr marL="180000" indent="-180000" algn="l">
              <a:spcBef>
                <a:spcPts val="65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It is schedulable.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Nothing prompts for input, so a Snowflake TASK can run the whole pipeline when a comment period closes.</a:t>
            </a:r>
          </a:p>
        </p:txBody>
      </p:sp>
      <p:sp>
        <p:nvSpPr>
          <p:cNvPr id="12" name="Note"/>
          <p:cNvSpPr txBox="1"/>
          <p:nvPr/>
        </p:nvSpPr>
        <p:spPr>
          <a:xfrm>
            <a:off x="502920" y="390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This is what cgs_ai is for: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making the analysis you did once into the analysis you can run every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WHERE IT STANDS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cgs_ai Is in Beta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Cortex functions are the newest part of the package — and the most worth arguing about.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Cortex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CMS-2022-0190 Comments Analysis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12 / 12</a:t>
            </a:r>
          </a:p>
        </p:txBody>
      </p:sp>
      <p:sp>
        <p:nvSpPr>
          <p:cNvPr id="11" name="Card0"/>
          <p:cNvSpPr/>
          <p:nvPr/>
        </p:nvSpPr>
        <p:spPr>
          <a:xfrm>
            <a:off x="502920" y="1430000"/>
            <a:ext cx="2606040" cy="16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Bar0"/>
          <p:cNvSpPr/>
          <p:nvPr/>
        </p:nvSpPr>
        <p:spPr>
          <a:xfrm>
            <a:off x="50292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Num0"/>
          <p:cNvSpPr/>
          <p:nvPr/>
        </p:nvSpPr>
        <p:spPr>
          <a:xfrm>
            <a:off x="64008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T0"/>
          <p:cNvSpPr txBox="1"/>
          <p:nvPr/>
        </p:nvSpPr>
        <p:spPr>
          <a:xfrm>
            <a:off x="64008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CardTitle0"/>
          <p:cNvSpPr txBox="1"/>
          <p:nvPr/>
        </p:nvSpPr>
        <p:spPr>
          <a:xfrm>
            <a:off x="64008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Try it on a docket you know</a:t>
            </a:r>
          </a:p>
        </p:txBody>
      </p:sp>
      <p:sp>
        <p:nvSpPr>
          <p:cNvPr id="16" name="CardBody0"/>
          <p:cNvSpPr txBox="1"/>
          <p:nvPr/>
        </p:nvSpPr>
        <p:spPr>
          <a:xfrm>
            <a:off x="640080" y="2344400"/>
            <a:ext cx="2331720" cy="5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If you already have a view on a rule, run it and tell me where the categories are wrong.</a:t>
            </a:r>
          </a:p>
        </p:txBody>
      </p:sp>
      <p:sp>
        <p:nvSpPr>
          <p:cNvPr id="17" name="Card1"/>
          <p:cNvSpPr/>
          <p:nvPr/>
        </p:nvSpPr>
        <p:spPr>
          <a:xfrm>
            <a:off x="3268980" y="1430000"/>
            <a:ext cx="2606040" cy="16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Bar1"/>
          <p:cNvSpPr/>
          <p:nvPr/>
        </p:nvSpPr>
        <p:spPr>
          <a:xfrm>
            <a:off x="326898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Num1"/>
          <p:cNvSpPr/>
          <p:nvPr/>
        </p:nvSpPr>
        <p:spPr>
          <a:xfrm>
            <a:off x="340614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NumT1"/>
          <p:cNvSpPr txBox="1"/>
          <p:nvPr/>
        </p:nvSpPr>
        <p:spPr>
          <a:xfrm>
            <a:off x="340614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CardTitle1"/>
          <p:cNvSpPr txBox="1"/>
          <p:nvPr/>
        </p:nvSpPr>
        <p:spPr>
          <a:xfrm>
            <a:off x="340614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The keyword rules are yours to shape</a:t>
            </a:r>
          </a:p>
        </p:txBody>
      </p:sp>
      <p:sp>
        <p:nvSpPr>
          <p:cNvPr id="22" name="CardBody1"/>
          <p:cNvSpPr txBox="1"/>
          <p:nvPr/>
        </p:nvSpPr>
        <p:spPr>
          <a:xfrm>
            <a:off x="3406140" y="2344400"/>
            <a:ext cx="2331720" cy="5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Sentiment and CMS domain scoring are explicit lists. They should reflect how our analysts actually read Comments.</a:t>
            </a:r>
          </a:p>
        </p:txBody>
      </p:sp>
      <p:sp>
        <p:nvSpPr>
          <p:cNvPr id="23" name="Card2"/>
          <p:cNvSpPr/>
          <p:nvPr/>
        </p:nvSpPr>
        <p:spPr>
          <a:xfrm>
            <a:off x="6035040" y="1430000"/>
            <a:ext cx="2606040" cy="16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Bar2"/>
          <p:cNvSpPr/>
          <p:nvPr/>
        </p:nvSpPr>
        <p:spPr>
          <a:xfrm>
            <a:off x="603504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Num2"/>
          <p:cNvSpPr/>
          <p:nvPr/>
        </p:nvSpPr>
        <p:spPr>
          <a:xfrm>
            <a:off x="617220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NumT2"/>
          <p:cNvSpPr txBox="1"/>
          <p:nvPr/>
        </p:nvSpPr>
        <p:spPr>
          <a:xfrm>
            <a:off x="617220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CardTitle2"/>
          <p:cNvSpPr txBox="1"/>
          <p:nvPr/>
        </p:nvSpPr>
        <p:spPr>
          <a:xfrm>
            <a:off x="617220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Ask for a walkthrough</a:t>
            </a:r>
          </a:p>
        </p:txBody>
      </p:sp>
      <p:sp>
        <p:nvSpPr>
          <p:cNvPr id="28" name="CardBody2"/>
          <p:cNvSpPr txBox="1"/>
          <p:nvPr/>
        </p:nvSpPr>
        <p:spPr>
          <a:xfrm>
            <a:off x="6172200" y="2344400"/>
            <a:ext cx="2331720" cy="5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Happy to set this up in your Snowflake workspace against a docket you care about.</a:t>
            </a:r>
          </a:p>
        </p:txBody>
      </p:sp>
      <p:sp>
        <p:nvSpPr>
          <p:cNvPr id="51" name="Note"/>
          <p:cNvSpPr txBox="1"/>
          <p:nvPr/>
        </p:nvSpPr>
        <p:spPr>
          <a:xfrm>
            <a:off x="502920" y="330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Next step: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pick the next comment period we care about and run it through before the analysis is due.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334</Words>
  <Application>Microsoft Office PowerPoint</Application>
  <PresentationFormat>On-screen Show (16:9)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Manuel Figallo</dc:creator>
  <cp:lastModifiedBy>Manuel Figallo</cp:lastModifiedBy>
  <cp:revision>101</cp:revision>
  <dcterms:modified xsi:type="dcterms:W3CDTF">2026-08-27T02:38:10Z</dcterms:modified>
</cp:coreProperties>
</file>